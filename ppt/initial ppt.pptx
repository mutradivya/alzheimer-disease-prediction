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autoCompressPictures="0">
  <p:sldMasterIdLst>
    <p:sldMasterId id="2147483648" r:id="rId4"/>
  </p:sldMasterIdLst>
  <p:notesMasterIdLst>
    <p:notesMasterId r:id="rId27"/>
  </p:notesMasterIdLst>
  <p:sldIdLst>
    <p:sldId id="256" r:id="rId5"/>
    <p:sldId id="277" r:id="rId6"/>
    <p:sldId id="278" r:id="rId7"/>
    <p:sldId id="325" r:id="rId8"/>
    <p:sldId id="326" r:id="rId9"/>
    <p:sldId id="281" r:id="rId10"/>
    <p:sldId id="282" r:id="rId11"/>
    <p:sldId id="341" r:id="rId12"/>
    <p:sldId id="406" r:id="rId13"/>
    <p:sldId id="291" r:id="rId14"/>
    <p:sldId id="407" r:id="rId15"/>
    <p:sldId id="342" r:id="rId16"/>
    <p:sldId id="327" r:id="rId17"/>
    <p:sldId id="365" r:id="rId18"/>
    <p:sldId id="422" r:id="rId19"/>
    <p:sldId id="403" r:id="rId20"/>
    <p:sldId id="392" r:id="rId21"/>
    <p:sldId id="423" r:id="rId22"/>
    <p:sldId id="405" r:id="rId23"/>
    <p:sldId id="408" r:id="rId24"/>
    <p:sldId id="366" r:id="rId25"/>
    <p:sldId id="399" r:id="rId2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471" autoAdjust="0"/>
    <p:restoredTop sz="94660"/>
  </p:normalViewPr>
  <p:slideViewPr>
    <p:cSldViewPr snapToGrid="0">
      <p:cViewPr varScale="1">
        <p:scale>
          <a:sx n="107" d="100"/>
          <a:sy n="107" d="100"/>
        </p:scale>
        <p:origin x="450" y="114"/>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452ADB1-275D-430A-89EE-5C7E6CFF6FF2}" type="datetimeFigureOut">
              <a:rPr lang="en-US" smtClean="0"/>
              <a:t>11/19/2025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B725628-3A68-42F4-BA86-981817953149}" type="slidenum">
              <a:rPr lang="en-US" smtClean="0"/>
              <a:t>‹#›</a:t>
            </a:fld>
            <a:endParaRPr lang="en-US" dirty="0"/>
          </a:p>
        </p:txBody>
      </p:sp>
    </p:spTree>
    <p:extLst>
      <p:ext uri="{BB962C8B-B14F-4D97-AF65-F5344CB8AC3E}">
        <p14:creationId xmlns:p14="http://schemas.microsoft.com/office/powerpoint/2010/main" val="6492586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7005E26E-BCB2-4FD5-8FD5-81A5EAE94C21}" type="datetime1">
              <a:rPr lang="en-US" smtClean="0"/>
              <a:t>11/19/2025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585C470-CD19-455C-B830-6D252EAD7FE5}" type="datetime1">
              <a:rPr lang="en-US" smtClean="0"/>
              <a:t>11/19/2025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7F85C43C-50D9-4F49-A136-0EFF292F93ED}" type="datetime1">
              <a:rPr lang="en-US" smtClean="0"/>
              <a:t>11/19/2025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B53B1A3-0AEF-4064-A724-D27D660C8653}" type="datetime1">
              <a:rPr lang="en-US" smtClean="0"/>
              <a:t>11/19/2025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7D5D0F2-BF66-4A24-9384-A0129B196518}" type="datetime1">
              <a:rPr lang="en-US" smtClean="0"/>
              <a:t>11/19/2025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C318A6C-4F6B-48D2-BDB0-D7413B3FDB0A}" type="datetime1">
              <a:rPr lang="en-US" smtClean="0"/>
              <a:t>11/19/2025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F01ECED-6ECE-4989-B917-9D4D7E6D3C76}" type="datetime1">
              <a:rPr lang="en-US" smtClean="0"/>
              <a:t>11/19/2025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E3B570E1-CB40-488E-8C6F-EF4211DFFCB0}" type="datetime1">
              <a:rPr lang="en-US" smtClean="0"/>
              <a:t>11/19/2025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D1CEB6AF-9F5C-43BE-879E-CB9514111250}" type="datetime1">
              <a:rPr lang="en-US" smtClean="0"/>
              <a:t>11/19/2025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67E5644-1E61-4311-A31E-84CB9C7AA8A9}" type="slidenum">
              <a:rPr lang="en-US" dirty="0"/>
              <a:t>‹#›</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CC2E9B8-0487-42E4-B571-744A3D775783}" type="datetime1">
              <a:rPr lang="en-US" smtClean="0"/>
              <a:t>11/19/2025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052E32D-1E84-43FD-8158-FFFE757EB0E8}" type="datetime1">
              <a:rPr lang="en-US" smtClean="0"/>
              <a:t>11/19/2025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5">
                <a:lumMod val="60000"/>
                <a:lumOff val="4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E7EE424C-FCA3-4EDD-B274-8E055D649B7D}" type="datetime1">
              <a:rPr lang="en-US" smtClean="0"/>
              <a:t>11/19/2025</a:t>
            </a:fld>
            <a:endParaRPr lang="en-US" dirty="0"/>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US" dirty="0"/>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4FAB73BC-B049-4115-A692-8D63A059BFB8}" type="slidenum">
              <a:rPr lang="en-US" dirty="0"/>
              <a:pPr/>
              <a:t>‹#›</a:t>
            </a:fld>
            <a:endParaRPr lang="en-US" dirty="0"/>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0" r:id="rId9"/>
    <p:sldLayoutId id="2147483658" r:id="rId10"/>
    <p:sldLayoutId id="2147483659" r:id="rId11"/>
  </p:sldLayoutIdLst>
  <p:hf sldNum="0" hdr="0" ftr="0" dt="0"/>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8" Type="http://schemas.openxmlformats.org/officeDocument/2006/relationships/hyperlink" Target="https://doi.org/10.1016/j.clinsp.2025.100673" TargetMode="External"/><Relationship Id="rId3" Type="http://schemas.openxmlformats.org/officeDocument/2006/relationships/hyperlink" Target="https://www.mdpi.com/2076-3417/13/16/9310?utm_source=chatgpt.com" TargetMode="External"/><Relationship Id="rId7" Type="http://schemas.openxmlformats.org/officeDocument/2006/relationships/hyperlink" Target="https://proceedings.mlr.press/v222/tiwari24a.html?utm_source=chatgpt.com" TargetMode="External"/><Relationship Id="rId2" Type="http://schemas.openxmlformats.org/officeDocument/2006/relationships/hyperlink" Target="https://doi.org/10.3390/app13169310" TargetMode="External"/><Relationship Id="rId1" Type="http://schemas.openxmlformats.org/officeDocument/2006/relationships/slideLayout" Target="../slideLayouts/slideLayout2.xml"/><Relationship Id="rId6" Type="http://schemas.openxmlformats.org/officeDocument/2006/relationships/hyperlink" Target="https://proceedings.mlr.press/v222/tiwari24a.html" TargetMode="External"/><Relationship Id="rId11" Type="http://schemas.openxmlformats.org/officeDocument/2006/relationships/hyperlink" Target="https://pmc.ncbi.nlm.nih.gov/articles/PMC12078560/?utm_source=chatgpt.com" TargetMode="External"/><Relationship Id="rId5" Type="http://schemas.openxmlformats.org/officeDocument/2006/relationships/hyperlink" Target="https://pure.bit.edu.cn/en/publications/cnn-and-swin-transformer-based-efficient-model-for-alzheimers-dis?utm_source=chatgpt.com" TargetMode="External"/><Relationship Id="rId10" Type="http://schemas.openxmlformats.org/officeDocument/2006/relationships/hyperlink" Target="https://doi.org/10.1038/s41598%E2%80%91025%E2%80%9101072%E2%80%915" TargetMode="External"/><Relationship Id="rId4" Type="http://schemas.openxmlformats.org/officeDocument/2006/relationships/hyperlink" Target="https://doi.org/10.1016/j.bspc.2023.105189" TargetMode="External"/><Relationship Id="rId9" Type="http://schemas.openxmlformats.org/officeDocument/2006/relationships/hyperlink" Target="https://xrayinterpreter.com/paper/doi/10.1016/j.clinsp.2025.100673?utm_source=chatgpt.com" TargetMode="External"/></Relationships>
</file>

<file path=ppt/slides/_rels/slide22.xml.rels><?xml version="1.0" encoding="UTF-8" standalone="yes"?>
<Relationships xmlns="http://schemas.openxmlformats.org/package/2006/relationships"><Relationship Id="rId8" Type="http://schemas.openxmlformats.org/officeDocument/2006/relationships/hyperlink" Target="https://doi.org/10.1038/s41598%E2%80%91025%E2%80%91" TargetMode="External"/><Relationship Id="rId3" Type="http://schemas.openxmlformats.org/officeDocument/2006/relationships/hyperlink" Target="https://pmc.ncbi.nlm.nih.gov/articles/PMC11228270/?utm_source=chatgpt.com" TargetMode="External"/><Relationship Id="rId7" Type="http://schemas.openxmlformats.org/officeDocument/2006/relationships/hyperlink" Target="https://iecscience.org/uploads/jpapers/202307/FY5eSXSg0wd8k4eiw7u0NJryY32GnPH5fylGXVOs.pdf?utm_source=chatgpt.com" TargetMode="External"/><Relationship Id="rId2" Type="http://schemas.openxmlformats.org/officeDocument/2006/relationships/hyperlink" Target="https://doi.org/10.3389/fpsyt.2024.1395563" TargetMode="External"/><Relationship Id="rId1" Type="http://schemas.openxmlformats.org/officeDocument/2006/relationships/slideLayout" Target="../slideLayouts/slideLayout2.xml"/><Relationship Id="rId6" Type="http://schemas.openxmlformats.org/officeDocument/2006/relationships/hyperlink" Target="https://doi.org/10.33969/AIS.2023050104" TargetMode="External"/><Relationship Id="rId11" Type="http://schemas.openxmlformats.org/officeDocument/2006/relationships/hyperlink" Target="https://arxiv.org/abs/2405.12986?utm_source=chatgpt.com" TargetMode="External"/><Relationship Id="rId5" Type="http://schemas.openxmlformats.org/officeDocument/2006/relationships/hyperlink" Target="https://link.springer.com/article/10.1007/s11042-023-15738-7?utm_source=chatgpt.com" TargetMode="External"/><Relationship Id="rId10" Type="http://schemas.openxmlformats.org/officeDocument/2006/relationships/hyperlink" Target="https://arxiv.org/abs/2405.12986" TargetMode="External"/><Relationship Id="rId4" Type="http://schemas.openxmlformats.org/officeDocument/2006/relationships/hyperlink" Target="https://doi.org/10.1007/s11042-023-15738-7" TargetMode="External"/><Relationship Id="rId9" Type="http://schemas.openxmlformats.org/officeDocument/2006/relationships/hyperlink" Target="https://www.lifescience.net/publications/1354065/a-deep-learning-model-for-early-diagnosis-of-alzhe/?utm_source=chatgpt.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2FDF0794-1B86-42B2-B8C7-F60123E638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74" y="0"/>
            <a:ext cx="12188726" cy="68589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EAA48FC5-3C83-4F1B-BC33-DF0B588F83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96786" y="3064931"/>
            <a:ext cx="8295215" cy="2488568"/>
          </a:xfrm>
          <a:prstGeom prst="rect">
            <a:avLst/>
          </a:prstGeom>
          <a:solidFill>
            <a:srgbClr val="000001">
              <a:alpha val="7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cxnSp>
        <p:nvCxnSpPr>
          <p:cNvPr id="23" name="Straight Connector 22">
            <a:extLst>
              <a:ext uri="{FF2B5EF4-FFF2-40B4-BE49-F238E27FC236}">
                <a16:creationId xmlns:a16="http://schemas.microsoft.com/office/drawing/2014/main" id="{62F01714-1A39-4194-BD47-8A9960C5998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309349" y="4666480"/>
            <a:ext cx="6832499" cy="0"/>
          </a:xfrm>
          <a:prstGeom prst="line">
            <a:avLst/>
          </a:prstGeom>
          <a:ln w="22225">
            <a:solidFill>
              <a:srgbClr val="4AC4E3"/>
            </a:solidFill>
          </a:ln>
        </p:spPr>
        <p:style>
          <a:lnRef idx="3">
            <a:schemeClr val="accent1"/>
          </a:lnRef>
          <a:fillRef idx="0">
            <a:schemeClr val="accent1"/>
          </a:fillRef>
          <a:effectRef idx="2">
            <a:schemeClr val="accent1"/>
          </a:effectRef>
          <a:fontRef idx="minor">
            <a:schemeClr val="tx1"/>
          </a:fontRef>
        </p:style>
      </p:cxnSp>
      <p:pic>
        <p:nvPicPr>
          <p:cNvPr id="7" name="Picture 6">
            <a:extLst>
              <a:ext uri="{FF2B5EF4-FFF2-40B4-BE49-F238E27FC236}">
                <a16:creationId xmlns:a16="http://schemas.microsoft.com/office/drawing/2014/main" id="{0D4200DD-E1E1-4807-B520-F5C9FF9B2B0E}"/>
              </a:ext>
            </a:extLst>
          </p:cNvPr>
          <p:cNvPicPr>
            <a:picLocks noChangeAspect="1"/>
          </p:cNvPicPr>
          <p:nvPr/>
        </p:nvPicPr>
        <p:blipFill>
          <a:blip r:embed="rId2"/>
          <a:stretch>
            <a:fillRect/>
          </a:stretch>
        </p:blipFill>
        <p:spPr>
          <a:xfrm>
            <a:off x="0" y="0"/>
            <a:ext cx="12192000" cy="6858000"/>
          </a:xfrm>
          <a:prstGeom prst="rect">
            <a:avLst/>
          </a:prstGeom>
        </p:spPr>
      </p:pic>
      <p:sp>
        <p:nvSpPr>
          <p:cNvPr id="8" name="Rounded Rectangle 9">
            <a:extLst>
              <a:ext uri="{FF2B5EF4-FFF2-40B4-BE49-F238E27FC236}">
                <a16:creationId xmlns:a16="http://schemas.microsoft.com/office/drawing/2014/main" id="{2A43101E-FB5D-48D8-86E8-1BFA29E396FC}"/>
              </a:ext>
            </a:extLst>
          </p:cNvPr>
          <p:cNvSpPr/>
          <p:nvPr/>
        </p:nvSpPr>
        <p:spPr>
          <a:xfrm>
            <a:off x="2059275" y="88497"/>
            <a:ext cx="7460576" cy="1670958"/>
          </a:xfrm>
          <a:prstGeom prst="roundRect">
            <a:avLst/>
          </a:prstGeom>
          <a:solidFill>
            <a:schemeClr val="bg1"/>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000" b="1" dirty="0">
                <a:solidFill>
                  <a:srgbClr val="002060"/>
                </a:solidFill>
                <a:latin typeface="Bahnschrift" panose="020B0502040204020203" pitchFamily="34" charset="0"/>
              </a:rPr>
              <a:t>Design of a CNN–</a:t>
            </a:r>
            <a:r>
              <a:rPr lang="en-US" sz="3000" b="1" dirty="0" err="1">
                <a:solidFill>
                  <a:srgbClr val="002060"/>
                </a:solidFill>
                <a:latin typeface="Bahnschrift" panose="020B0502040204020203" pitchFamily="34" charset="0"/>
              </a:rPr>
              <a:t>Swin</a:t>
            </a:r>
            <a:r>
              <a:rPr lang="en-US" sz="3000" b="1" dirty="0">
                <a:solidFill>
                  <a:srgbClr val="002060"/>
                </a:solidFill>
                <a:latin typeface="Bahnschrift" panose="020B0502040204020203" pitchFamily="34" charset="0"/>
              </a:rPr>
              <a:t> Transformer Model for Alzheimer’s Disease Prediction Using MRI Images</a:t>
            </a:r>
            <a:endParaRPr lang="en-IN" sz="3000" b="1" dirty="0">
              <a:ln w="22225">
                <a:solidFill>
                  <a:schemeClr val="accent2"/>
                </a:solidFill>
                <a:prstDash val="solid"/>
              </a:ln>
              <a:solidFill>
                <a:srgbClr val="002060"/>
              </a:solidFill>
              <a:effectLst>
                <a:glow rad="228600">
                  <a:schemeClr val="accent1">
                    <a:satMod val="175000"/>
                    <a:alpha val="40000"/>
                  </a:schemeClr>
                </a:glow>
              </a:effectLst>
              <a:latin typeface="Bahnschrift" panose="020B0502040204020203" pitchFamily="34" charset="0"/>
              <a:cs typeface="Times New Roman" panose="02020603050405020304" pitchFamily="18" charset="0"/>
            </a:endParaRPr>
          </a:p>
        </p:txBody>
      </p:sp>
    </p:spTree>
    <p:extLst>
      <p:ext uri="{BB962C8B-B14F-4D97-AF65-F5344CB8AC3E}">
        <p14:creationId xmlns:p14="http://schemas.microsoft.com/office/powerpoint/2010/main" val="28062570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788997" y="966651"/>
            <a:ext cx="9720072" cy="770709"/>
          </a:xfrm>
        </p:spPr>
        <p:txBody>
          <a:bodyPr>
            <a:normAutofit/>
          </a:bodyPr>
          <a:lstStyle/>
          <a:p>
            <a:r>
              <a:rPr lang="en-US" sz="2000" b="1" dirty="0">
                <a:solidFill>
                  <a:schemeClr val="tx2">
                    <a:lumMod val="50000"/>
                  </a:schemeClr>
                </a:solidFill>
                <a:latin typeface="Times New Roman" panose="02020603050405020304" pitchFamily="18" charset="0"/>
                <a:cs typeface="Times New Roman" panose="02020603050405020304" pitchFamily="18" charset="0"/>
              </a:rPr>
              <a:t>TABLE OF CONTENTS</a:t>
            </a:r>
          </a:p>
        </p:txBody>
      </p:sp>
      <p:sp>
        <p:nvSpPr>
          <p:cNvPr id="6" name="TextBox 5"/>
          <p:cNvSpPr txBox="1"/>
          <p:nvPr/>
        </p:nvSpPr>
        <p:spPr>
          <a:xfrm>
            <a:off x="788997" y="2031269"/>
            <a:ext cx="7130143" cy="4659737"/>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ü"/>
            </a:pPr>
            <a:r>
              <a:rPr lang="en-US" sz="1400" b="1" dirty="0">
                <a:latin typeface="Times New Roman" panose="02020603050405020304" pitchFamily="18" charset="0"/>
                <a:cs typeface="Times New Roman" panose="02020603050405020304" pitchFamily="18" charset="0"/>
              </a:rPr>
              <a:t>Project Description</a:t>
            </a:r>
          </a:p>
          <a:p>
            <a:pPr marL="342900" indent="-342900" algn="just">
              <a:lnSpc>
                <a:spcPct val="150000"/>
              </a:lnSpc>
              <a:buFont typeface="Wingdings" panose="05000000000000000000" pitchFamily="2" charset="2"/>
              <a:buChar char="ü"/>
            </a:pPr>
            <a:r>
              <a:rPr lang="en-US" sz="1400" b="1" dirty="0">
                <a:latin typeface="Times New Roman" panose="02020603050405020304" pitchFamily="18" charset="0"/>
                <a:cs typeface="Times New Roman" panose="02020603050405020304" pitchFamily="18" charset="0"/>
              </a:rPr>
              <a:t>Problem Statement</a:t>
            </a:r>
          </a:p>
          <a:p>
            <a:pPr marL="342900" indent="-342900" algn="just">
              <a:lnSpc>
                <a:spcPct val="150000"/>
              </a:lnSpc>
              <a:buFont typeface="Wingdings" panose="05000000000000000000" pitchFamily="2" charset="2"/>
              <a:buChar char="ü"/>
            </a:pPr>
            <a:r>
              <a:rPr lang="en-US" sz="1400" b="1" dirty="0">
                <a:latin typeface="Times New Roman" panose="02020603050405020304" pitchFamily="18" charset="0"/>
                <a:cs typeface="Times New Roman" panose="02020603050405020304" pitchFamily="18" charset="0"/>
              </a:rPr>
              <a:t>Objective</a:t>
            </a:r>
          </a:p>
          <a:p>
            <a:pPr marL="342900" indent="-342900" algn="just">
              <a:lnSpc>
                <a:spcPct val="150000"/>
              </a:lnSpc>
              <a:buFont typeface="Wingdings" panose="05000000000000000000" pitchFamily="2" charset="2"/>
              <a:buChar char="ü"/>
            </a:pPr>
            <a:r>
              <a:rPr lang="en-US" sz="1400" b="1" dirty="0">
                <a:latin typeface="Times New Roman" panose="02020603050405020304" pitchFamily="18" charset="0"/>
                <a:cs typeface="Times New Roman" panose="02020603050405020304" pitchFamily="18" charset="0"/>
              </a:rPr>
              <a:t>Scope</a:t>
            </a:r>
          </a:p>
          <a:p>
            <a:pPr marL="342900" indent="-342900" algn="just">
              <a:lnSpc>
                <a:spcPct val="150000"/>
              </a:lnSpc>
              <a:buFont typeface="Wingdings" panose="05000000000000000000" pitchFamily="2" charset="2"/>
              <a:buChar char="ü"/>
            </a:pPr>
            <a:r>
              <a:rPr lang="en-US" sz="1400" b="1" dirty="0">
                <a:latin typeface="Times New Roman" panose="02020603050405020304" pitchFamily="18" charset="0"/>
                <a:cs typeface="Times New Roman" panose="02020603050405020304" pitchFamily="18" charset="0"/>
              </a:rPr>
              <a:t>Significant</a:t>
            </a:r>
          </a:p>
          <a:p>
            <a:pPr marL="342900" indent="-342900" algn="just">
              <a:lnSpc>
                <a:spcPct val="150000"/>
              </a:lnSpc>
              <a:buFont typeface="Wingdings" panose="05000000000000000000" pitchFamily="2" charset="2"/>
              <a:buChar char="ü"/>
            </a:pPr>
            <a:r>
              <a:rPr lang="en-US" sz="1400" b="1" dirty="0">
                <a:latin typeface="Times New Roman" panose="02020603050405020304" pitchFamily="18" charset="0"/>
                <a:cs typeface="Times New Roman" panose="02020603050405020304" pitchFamily="18" charset="0"/>
              </a:rPr>
              <a:t>Existing System</a:t>
            </a:r>
          </a:p>
          <a:p>
            <a:pPr marL="342900" indent="-342900" algn="just">
              <a:lnSpc>
                <a:spcPct val="150000"/>
              </a:lnSpc>
              <a:buFont typeface="Wingdings" panose="05000000000000000000" pitchFamily="2" charset="2"/>
              <a:buChar char="ü"/>
            </a:pPr>
            <a:r>
              <a:rPr lang="en-US" sz="1400" b="1" dirty="0">
                <a:latin typeface="Times New Roman" panose="02020603050405020304" pitchFamily="18" charset="0"/>
                <a:cs typeface="Times New Roman" panose="02020603050405020304" pitchFamily="18" charset="0"/>
              </a:rPr>
              <a:t>Proposed System</a:t>
            </a:r>
          </a:p>
          <a:p>
            <a:pPr marL="342900" indent="-342900" algn="just">
              <a:lnSpc>
                <a:spcPct val="150000"/>
              </a:lnSpc>
              <a:buFont typeface="Wingdings" panose="05000000000000000000" pitchFamily="2" charset="2"/>
              <a:buChar char="ü"/>
            </a:pPr>
            <a:r>
              <a:rPr lang="en-US" sz="1400" b="1" dirty="0">
                <a:latin typeface="Times New Roman" panose="02020603050405020304" pitchFamily="18" charset="0"/>
                <a:cs typeface="Times New Roman" panose="02020603050405020304" pitchFamily="18" charset="0"/>
              </a:rPr>
              <a:t>Architecture</a:t>
            </a:r>
          </a:p>
          <a:p>
            <a:pPr marL="342900" indent="-342900" algn="just">
              <a:lnSpc>
                <a:spcPct val="150000"/>
              </a:lnSpc>
              <a:buFont typeface="Wingdings" panose="05000000000000000000" pitchFamily="2" charset="2"/>
              <a:buChar char="ü"/>
            </a:pPr>
            <a:r>
              <a:rPr lang="en-US" sz="1400" b="1" dirty="0">
                <a:latin typeface="Times New Roman" panose="02020603050405020304" pitchFamily="18" charset="0"/>
                <a:cs typeface="Times New Roman" panose="02020603050405020304" pitchFamily="18" charset="0"/>
              </a:rPr>
              <a:t>Resource Requirements</a:t>
            </a:r>
          </a:p>
          <a:p>
            <a:pPr marL="342900" indent="-342900" algn="just">
              <a:lnSpc>
                <a:spcPct val="150000"/>
              </a:lnSpc>
              <a:buFont typeface="Wingdings" panose="05000000000000000000" pitchFamily="2" charset="2"/>
              <a:buChar char="ü"/>
            </a:pPr>
            <a:r>
              <a:rPr lang="en-US" sz="1400" b="1" dirty="0">
                <a:latin typeface="Times New Roman" panose="02020603050405020304" pitchFamily="18" charset="0"/>
                <a:cs typeface="Times New Roman" panose="02020603050405020304" pitchFamily="18" charset="0"/>
              </a:rPr>
              <a:t>Research Gap analysis</a:t>
            </a:r>
          </a:p>
          <a:p>
            <a:pPr marL="342900" indent="-342900" algn="just">
              <a:lnSpc>
                <a:spcPct val="150000"/>
              </a:lnSpc>
              <a:buFont typeface="Wingdings" panose="05000000000000000000" pitchFamily="2" charset="2"/>
              <a:buChar char="ü"/>
            </a:pPr>
            <a:r>
              <a:rPr lang="en-US" sz="1400" b="1" dirty="0">
                <a:latin typeface="Times New Roman" panose="02020603050405020304" pitchFamily="18" charset="0"/>
                <a:cs typeface="Times New Roman" panose="02020603050405020304" pitchFamily="18" charset="0"/>
              </a:rPr>
              <a:t>Literature Survey</a:t>
            </a:r>
          </a:p>
          <a:p>
            <a:pPr marL="342900" indent="-342900" algn="just">
              <a:lnSpc>
                <a:spcPct val="150000"/>
              </a:lnSpc>
              <a:buFont typeface="Wingdings" panose="05000000000000000000" pitchFamily="2" charset="2"/>
              <a:buChar char="ü"/>
            </a:pPr>
            <a:endParaRPr lang="en-US" sz="1400" b="1" dirty="0">
              <a:latin typeface="Times New Roman" panose="02020603050405020304" pitchFamily="18" charset="0"/>
              <a:cs typeface="Times New Roman" panose="02020603050405020304" pitchFamily="18" charset="0"/>
            </a:endParaRPr>
          </a:p>
          <a:p>
            <a:pPr marL="342900" indent="-342900" algn="just">
              <a:lnSpc>
                <a:spcPct val="150000"/>
              </a:lnSpc>
              <a:buFont typeface="Wingdings" panose="05000000000000000000" pitchFamily="2" charset="2"/>
              <a:buChar char="ü"/>
            </a:pPr>
            <a:endParaRPr lang="en-IN" sz="1400" b="1" dirty="0">
              <a:latin typeface="Times New Roman" panose="02020603050405020304" pitchFamily="18" charset="0"/>
              <a:cs typeface="Times New Roman" panose="02020603050405020304" pitchFamily="18" charset="0"/>
            </a:endParaRPr>
          </a:p>
          <a:p>
            <a:pPr lvl="2" algn="ctr">
              <a:lnSpc>
                <a:spcPct val="170000"/>
              </a:lnSpc>
              <a:buFont typeface="Wingdings" panose="05000000000000000000" pitchFamily="2" charset="2"/>
              <a:buChar char="v"/>
            </a:pPr>
            <a:endParaRPr lang="en-US" sz="1400" b="1" dirty="0">
              <a:latin typeface="Times New Roman" panose="02020603050405020304" pitchFamily="18" charset="0"/>
              <a:cs typeface="Times New Roman" panose="02020603050405020304" pitchFamily="18" charset="0"/>
            </a:endParaRPr>
          </a:p>
        </p:txBody>
      </p:sp>
      <p:sp>
        <p:nvSpPr>
          <p:cNvPr id="7" name="TextBox 6"/>
          <p:cNvSpPr txBox="1"/>
          <p:nvPr/>
        </p:nvSpPr>
        <p:spPr>
          <a:xfrm>
            <a:off x="4425260" y="2031270"/>
            <a:ext cx="5807746" cy="2024978"/>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ü"/>
            </a:pPr>
            <a:r>
              <a:rPr lang="en-US" sz="1400" b="1" dirty="0">
                <a:latin typeface="Times New Roman" panose="02020603050405020304" pitchFamily="18" charset="0"/>
                <a:cs typeface="Times New Roman" panose="02020603050405020304" pitchFamily="18" charset="0"/>
              </a:rPr>
              <a:t>Implementation</a:t>
            </a:r>
          </a:p>
          <a:p>
            <a:pPr marL="342900" lvl="1" indent="-342900" algn="just">
              <a:lnSpc>
                <a:spcPct val="150000"/>
              </a:lnSpc>
              <a:buFont typeface="Wingdings" panose="05000000000000000000" pitchFamily="2" charset="2"/>
              <a:buChar char="ü"/>
            </a:pPr>
            <a:r>
              <a:rPr lang="en-US" sz="1400" b="1" dirty="0">
                <a:latin typeface="Times New Roman" panose="02020603050405020304" pitchFamily="18" charset="0"/>
                <a:cs typeface="Times New Roman" panose="02020603050405020304" pitchFamily="18" charset="0"/>
              </a:rPr>
              <a:t>Model Implementation</a:t>
            </a:r>
          </a:p>
          <a:p>
            <a:pPr algn="just">
              <a:lnSpc>
                <a:spcPct val="150000"/>
              </a:lnSpc>
            </a:pPr>
            <a:r>
              <a:rPr lang="en-US" sz="1400" b="1" dirty="0">
                <a:latin typeface="Times New Roman" panose="02020603050405020304" pitchFamily="18" charset="0"/>
                <a:cs typeface="Times New Roman" panose="02020603050405020304" pitchFamily="18" charset="0"/>
              </a:rPr>
              <a:t>	1. Algorithm Definition</a:t>
            </a:r>
          </a:p>
          <a:p>
            <a:pPr algn="just">
              <a:lnSpc>
                <a:spcPct val="150000"/>
              </a:lnSpc>
            </a:pPr>
            <a:r>
              <a:rPr lang="en-US" sz="1400" b="1" dirty="0">
                <a:latin typeface="Times New Roman" panose="02020603050405020304" pitchFamily="18" charset="0"/>
                <a:cs typeface="Times New Roman" panose="02020603050405020304" pitchFamily="18" charset="0"/>
              </a:rPr>
              <a:t>	2. working Process</a:t>
            </a:r>
          </a:p>
          <a:p>
            <a:pPr algn="just">
              <a:lnSpc>
                <a:spcPct val="150000"/>
              </a:lnSpc>
            </a:pPr>
            <a:r>
              <a:rPr lang="en-US" sz="1400" b="1" dirty="0">
                <a:latin typeface="Times New Roman" panose="02020603050405020304" pitchFamily="18" charset="0"/>
                <a:cs typeface="Times New Roman" panose="02020603050405020304" pitchFamily="18" charset="0"/>
              </a:rPr>
              <a:t>✓	 References</a:t>
            </a:r>
          </a:p>
          <a:p>
            <a:pPr lvl="2">
              <a:lnSpc>
                <a:spcPct val="170000"/>
              </a:lnSpc>
            </a:pPr>
            <a:endParaRPr lang="en-US" sz="1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017415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3538293" y="339636"/>
            <a:ext cx="4671278" cy="666205"/>
          </a:xfrm>
        </p:spPr>
        <p:txBody>
          <a:bodyPr>
            <a:normAutofit fontScale="90000"/>
          </a:bodyPr>
          <a:lstStyle/>
          <a:p>
            <a:pPr lvl="2" algn="ctr">
              <a:lnSpc>
                <a:spcPct val="170000"/>
              </a:lnSpc>
            </a:pPr>
            <a:r>
              <a:rPr lang="en-US" sz="3000" u="sng" dirty="0">
                <a:latin typeface="Times New Roman" panose="02020603050405020304" pitchFamily="18" charset="0"/>
                <a:cs typeface="Times New Roman" panose="02020603050405020304" pitchFamily="18" charset="0"/>
              </a:rPr>
              <a:t>PROJECT DESCRIPTION</a:t>
            </a:r>
            <a:br>
              <a:rPr lang="en-US" sz="3000" u="sng" dirty="0">
                <a:latin typeface="Times New Roman" panose="02020603050405020304" pitchFamily="18" charset="0"/>
                <a:cs typeface="Times New Roman" panose="02020603050405020304" pitchFamily="18" charset="0"/>
              </a:rPr>
            </a:br>
            <a:endParaRPr lang="en-US" sz="3000" u="sng" dirty="0">
              <a:latin typeface="Times New Roman" panose="02020603050405020304" pitchFamily="18" charset="0"/>
              <a:cs typeface="Times New Roman" panose="02020603050405020304" pitchFamily="18" charset="0"/>
            </a:endParaRPr>
          </a:p>
        </p:txBody>
      </p:sp>
      <p:sp>
        <p:nvSpPr>
          <p:cNvPr id="5" name="Rectangle 4"/>
          <p:cNvSpPr/>
          <p:nvPr/>
        </p:nvSpPr>
        <p:spPr>
          <a:xfrm>
            <a:off x="814251" y="1005841"/>
            <a:ext cx="10955384" cy="5444054"/>
          </a:xfrm>
          <a:prstGeom prst="rect">
            <a:avLst/>
          </a:prstGeom>
        </p:spPr>
        <p:txBody>
          <a:bodyPr wrap="square">
            <a:spAutoFit/>
          </a:bodyPr>
          <a:lstStyle/>
          <a:p>
            <a:pPr algn="just">
              <a:lnSpc>
                <a:spcPct val="150000"/>
              </a:lnSpc>
            </a:pPr>
            <a:r>
              <a:rPr lang="en-US" dirty="0">
                <a:latin typeface="Times New Roman" panose="02020603050405020304" pitchFamily="18" charset="0"/>
                <a:cs typeface="Times New Roman" panose="02020603050405020304" pitchFamily="18" charset="0"/>
              </a:rPr>
              <a:t>This project presents a hybrid deep learning model that combines Convolutional Neural Networks (CNN) and Transformer architectures for classifying Alzheimer’s disease stages using MRI images. The proposed framework integrates the strengths of CNN-based models such as EfficientNet-B3, ResNet-50, and DenseNet-121 with advanced attention mechanisms from </a:t>
            </a:r>
            <a:r>
              <a:rPr lang="en-US" dirty="0" err="1">
                <a:latin typeface="Times New Roman" panose="02020603050405020304" pitchFamily="18" charset="0"/>
                <a:cs typeface="Times New Roman" panose="02020603050405020304" pitchFamily="18" charset="0"/>
              </a:rPr>
              <a:t>Swin</a:t>
            </a:r>
            <a:r>
              <a:rPr lang="en-US" dirty="0">
                <a:latin typeface="Times New Roman" panose="02020603050405020304" pitchFamily="18" charset="0"/>
                <a:cs typeface="Times New Roman" panose="02020603050405020304" pitchFamily="18" charset="0"/>
              </a:rPr>
              <a:t> Transformer, and Transformer Encoder. Each fusion model is trained to categorize MRI scans into five classes: Irrelevant, Mild Impairment, Moderate Impairment, No Impairment, and Very Mild Impairment. The CNN component captures spatial and hierarchical image features, while the Transformer component enhances contextual learning and long-range dependency extraction. A Flask-based application is developed to provide modules such as Home, Register, Login, Classification, and Logout, ensuring a complete system workflow. The integration of CNNs and Transformers demonstrates a balanced approach that improves classification performance and enhances feature representation.</a:t>
            </a:r>
            <a:endParaRPr lang="en-IN" dirty="0">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 </a:t>
            </a:r>
            <a:endParaRPr lang="en-IN" dirty="0">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Keywords: CNN, </a:t>
            </a:r>
            <a:r>
              <a:rPr lang="en-US" dirty="0" err="1">
                <a:latin typeface="Times New Roman" panose="02020603050405020304" pitchFamily="18" charset="0"/>
                <a:cs typeface="Times New Roman" panose="02020603050405020304" pitchFamily="18" charset="0"/>
              </a:rPr>
              <a:t>Swin</a:t>
            </a:r>
            <a:r>
              <a:rPr lang="en-US" dirty="0">
                <a:latin typeface="Times New Roman" panose="02020603050405020304" pitchFamily="18" charset="0"/>
                <a:cs typeface="Times New Roman" panose="02020603050405020304" pitchFamily="18" charset="0"/>
              </a:rPr>
              <a:t> Transformer, Alzheimer’s disease, MRI, Deep Learning, </a:t>
            </a:r>
            <a:r>
              <a:rPr lang="en-US" dirty="0" err="1">
                <a:latin typeface="Times New Roman" panose="02020603050405020304" pitchFamily="18" charset="0"/>
                <a:cs typeface="Times New Roman" panose="02020603050405020304" pitchFamily="18" charset="0"/>
              </a:rPr>
              <a:t>EfficientNet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ResNet</a:t>
            </a:r>
            <a:r>
              <a:rPr lang="en-US" dirty="0">
                <a:latin typeface="Times New Roman" panose="02020603050405020304" pitchFamily="18" charset="0"/>
                <a:cs typeface="Times New Roman" panose="02020603050405020304" pitchFamily="18" charset="0"/>
              </a:rPr>
              <a:t>, , </a:t>
            </a:r>
            <a:r>
              <a:rPr lang="en-US" dirty="0" err="1">
                <a:latin typeface="Times New Roman" panose="02020603050405020304" pitchFamily="18" charset="0"/>
                <a:cs typeface="Times New Roman" panose="02020603050405020304" pitchFamily="18" charset="0"/>
              </a:rPr>
              <a:t>DenseNet</a:t>
            </a:r>
            <a:r>
              <a:rPr lang="en-US" dirty="0">
                <a:latin typeface="Times New Roman" panose="02020603050405020304" pitchFamily="18" charset="0"/>
                <a:cs typeface="Times New Roman" panose="02020603050405020304" pitchFamily="18" charset="0"/>
              </a:rPr>
              <a:t>, Vision Transformer</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434046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1153884" y="274320"/>
            <a:ext cx="9616441" cy="1214846"/>
          </a:xfrm>
        </p:spPr>
        <p:txBody>
          <a:bodyPr>
            <a:normAutofit fontScale="90000"/>
          </a:bodyPr>
          <a:lstStyle/>
          <a:p>
            <a:pPr lvl="2" algn="ctr">
              <a:lnSpc>
                <a:spcPct val="170000"/>
              </a:lnSpc>
            </a:pPr>
            <a:r>
              <a:rPr lang="en-US" sz="3000" u="sng" dirty="0">
                <a:latin typeface="Times New Roman" panose="02020603050405020304" pitchFamily="18" charset="0"/>
                <a:cs typeface="Times New Roman" panose="02020603050405020304" pitchFamily="18" charset="0"/>
              </a:rPr>
              <a:t>PROBLEM STATEMENT</a:t>
            </a:r>
            <a:br>
              <a:rPr lang="en-US" sz="3000" u="sng" dirty="0">
                <a:latin typeface="Times New Roman" panose="02020603050405020304" pitchFamily="18" charset="0"/>
                <a:cs typeface="Times New Roman" panose="02020603050405020304" pitchFamily="18" charset="0"/>
              </a:rPr>
            </a:br>
            <a:endParaRPr lang="en-US" sz="3000" u="sng" dirty="0">
              <a:latin typeface="Times New Roman" panose="02020603050405020304" pitchFamily="18" charset="0"/>
              <a:cs typeface="Times New Roman" panose="02020603050405020304" pitchFamily="18" charset="0"/>
            </a:endParaRPr>
          </a:p>
        </p:txBody>
      </p:sp>
      <p:sp>
        <p:nvSpPr>
          <p:cNvPr id="4" name="Rectangle 3"/>
          <p:cNvSpPr/>
          <p:nvPr/>
        </p:nvSpPr>
        <p:spPr>
          <a:xfrm>
            <a:off x="931815" y="1489166"/>
            <a:ext cx="10811693" cy="3366563"/>
          </a:xfrm>
          <a:prstGeom prst="rect">
            <a:avLst/>
          </a:prstGeom>
        </p:spPr>
        <p:txBody>
          <a:bodyPr wrap="square">
            <a:spAutoFit/>
          </a:bodyPr>
          <a:lstStyle/>
          <a:p>
            <a:pPr algn="just">
              <a:lnSpc>
                <a:spcPct val="150000"/>
              </a:lnSpc>
            </a:pPr>
            <a:r>
              <a:rPr lang="en-US" dirty="0">
                <a:latin typeface="Times New Roman" panose="02020603050405020304" pitchFamily="18" charset="0"/>
                <a:cs typeface="Times New Roman" panose="02020603050405020304" pitchFamily="18" charset="0"/>
              </a:rPr>
              <a:t>Conventional deep learning models used for MRI image classification face difficulties in capturing both local spatial patterns and global contextual dependencies. CNN models, although powerful for feature extraction, tend to lose global information as network depth increases. Transformer models, on the other hand, are effective at modeling long-range dependencies but require large datasets and high computational resources. There is a lack of a balanced hybrid architecture that effectively combines these advantages while maintaining computational efficiency. The problem addressed in this project is to design a CNN–</a:t>
            </a:r>
            <a:r>
              <a:rPr lang="en-US" dirty="0" err="1">
                <a:latin typeface="Times New Roman" panose="02020603050405020304" pitchFamily="18" charset="0"/>
                <a:cs typeface="Times New Roman" panose="02020603050405020304" pitchFamily="18" charset="0"/>
              </a:rPr>
              <a:t>Swin</a:t>
            </a:r>
            <a:r>
              <a:rPr lang="en-US" dirty="0">
                <a:latin typeface="Times New Roman" panose="02020603050405020304" pitchFamily="18" charset="0"/>
                <a:cs typeface="Times New Roman" panose="02020603050405020304" pitchFamily="18" charset="0"/>
              </a:rPr>
              <a:t> Transformer–based model capable of accurately predicting Alzheimer’s disease stages from MRI images across five predefined classes, ensuring improved accuracy, stability, and efficient feature representation.</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655119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1049381" y="-3266"/>
            <a:ext cx="9616441" cy="1642654"/>
          </a:xfrm>
        </p:spPr>
        <p:txBody>
          <a:bodyPr>
            <a:normAutofit/>
          </a:bodyPr>
          <a:lstStyle/>
          <a:p>
            <a:pPr lvl="2" algn="ctr">
              <a:lnSpc>
                <a:spcPct val="170000"/>
              </a:lnSpc>
            </a:pPr>
            <a:r>
              <a:rPr lang="en-US" sz="3000" u="sng" dirty="0">
                <a:latin typeface="Times New Roman" panose="02020603050405020304" pitchFamily="18" charset="0"/>
                <a:cs typeface="Times New Roman" panose="02020603050405020304" pitchFamily="18" charset="0"/>
              </a:rPr>
              <a:t>OBJECTIVE OF PROJECT</a:t>
            </a:r>
            <a:br>
              <a:rPr lang="en-US" sz="3000" u="sng" dirty="0">
                <a:latin typeface="Times New Roman" panose="02020603050405020304" pitchFamily="18" charset="0"/>
                <a:cs typeface="Times New Roman" panose="02020603050405020304" pitchFamily="18" charset="0"/>
              </a:rPr>
            </a:br>
            <a:endParaRPr lang="en-US" sz="3000" u="sng" dirty="0">
              <a:latin typeface="Times New Roman" panose="02020603050405020304" pitchFamily="18" charset="0"/>
              <a:cs typeface="Times New Roman" panose="02020603050405020304" pitchFamily="18" charset="0"/>
            </a:endParaRPr>
          </a:p>
        </p:txBody>
      </p:sp>
      <p:sp>
        <p:nvSpPr>
          <p:cNvPr id="4" name="Rectangle 3"/>
          <p:cNvSpPr/>
          <p:nvPr/>
        </p:nvSpPr>
        <p:spPr>
          <a:xfrm>
            <a:off x="920289" y="1383190"/>
            <a:ext cx="10811693" cy="4197559"/>
          </a:xfrm>
          <a:prstGeom prst="rect">
            <a:avLst/>
          </a:prstGeom>
        </p:spPr>
        <p:txBody>
          <a:bodyPr wrap="square">
            <a:spAutoFit/>
          </a:bodyPr>
          <a:lstStyle/>
          <a:p>
            <a:pPr algn="just">
              <a:lnSpc>
                <a:spcPct val="150000"/>
              </a:lnSpc>
            </a:pPr>
            <a:r>
              <a:rPr lang="en-IN" dirty="0">
                <a:latin typeface="Times New Roman" panose="02020603050405020304" pitchFamily="18" charset="0"/>
                <a:cs typeface="Times New Roman" panose="02020603050405020304" pitchFamily="18" charset="0"/>
              </a:rPr>
              <a:t>The main objective of this project is to design and evaluate a hybrid CNN–</a:t>
            </a:r>
            <a:r>
              <a:rPr lang="en-IN" dirty="0" err="1">
                <a:latin typeface="Times New Roman" panose="02020603050405020304" pitchFamily="18" charset="0"/>
                <a:cs typeface="Times New Roman" panose="02020603050405020304" pitchFamily="18" charset="0"/>
              </a:rPr>
              <a:t>Swin</a:t>
            </a:r>
            <a:r>
              <a:rPr lang="en-IN" dirty="0">
                <a:latin typeface="Times New Roman" panose="02020603050405020304" pitchFamily="18" charset="0"/>
                <a:cs typeface="Times New Roman" panose="02020603050405020304" pitchFamily="18" charset="0"/>
              </a:rPr>
              <a:t> Transformer architecture for accurate classification of Alzheimer’s disease stages using MRI images. Specific objectives include:</a:t>
            </a:r>
          </a:p>
          <a:p>
            <a:pPr lvl="0" algn="just">
              <a:lnSpc>
                <a:spcPct val="150000"/>
              </a:lnSpc>
            </a:pPr>
            <a:r>
              <a:rPr lang="en-IN" dirty="0">
                <a:latin typeface="Times New Roman" panose="02020603050405020304" pitchFamily="18" charset="0"/>
                <a:cs typeface="Times New Roman" panose="02020603050405020304" pitchFamily="18" charset="0"/>
              </a:rPr>
              <a:t>To </a:t>
            </a:r>
            <a:r>
              <a:rPr lang="en-IN" dirty="0" err="1">
                <a:latin typeface="Times New Roman" panose="02020603050405020304" pitchFamily="18" charset="0"/>
                <a:cs typeface="Times New Roman" panose="02020603050405020304" pitchFamily="18" charset="0"/>
              </a:rPr>
              <a:t>preprocess</a:t>
            </a:r>
            <a:r>
              <a:rPr lang="en-IN" dirty="0">
                <a:latin typeface="Times New Roman" panose="02020603050405020304" pitchFamily="18" charset="0"/>
                <a:cs typeface="Times New Roman" panose="02020603050405020304" pitchFamily="18" charset="0"/>
              </a:rPr>
              <a:t> and standardize MRI image data for effective model training.</a:t>
            </a:r>
          </a:p>
          <a:p>
            <a:pPr lvl="0" algn="just">
              <a:lnSpc>
                <a:spcPct val="150000"/>
              </a:lnSpc>
            </a:pPr>
            <a:r>
              <a:rPr lang="en-IN" dirty="0">
                <a:latin typeface="Times New Roman" panose="02020603050405020304" pitchFamily="18" charset="0"/>
                <a:cs typeface="Times New Roman" panose="02020603050405020304" pitchFamily="18" charset="0"/>
              </a:rPr>
              <a:t>To develop four hybrid architectures integrating CNN and Transformer models—EfficientNet-B3 + </a:t>
            </a:r>
            <a:r>
              <a:rPr lang="en-IN" dirty="0" err="1">
                <a:latin typeface="Times New Roman" panose="02020603050405020304" pitchFamily="18" charset="0"/>
                <a:cs typeface="Times New Roman" panose="02020603050405020304" pitchFamily="18" charset="0"/>
              </a:rPr>
              <a:t>Swin</a:t>
            </a:r>
            <a:r>
              <a:rPr lang="en-IN" dirty="0">
                <a:latin typeface="Times New Roman" panose="02020603050405020304" pitchFamily="18" charset="0"/>
                <a:cs typeface="Times New Roman" panose="02020603050405020304" pitchFamily="18" charset="0"/>
              </a:rPr>
              <a:t> Transformer, ResNet-50 + </a:t>
            </a:r>
            <a:r>
              <a:rPr lang="en-IN" dirty="0" err="1">
                <a:latin typeface="Times New Roman" panose="02020603050405020304" pitchFamily="18" charset="0"/>
                <a:cs typeface="Times New Roman" panose="02020603050405020304" pitchFamily="18" charset="0"/>
              </a:rPr>
              <a:t>Swin</a:t>
            </a:r>
            <a:r>
              <a:rPr lang="en-IN" dirty="0">
                <a:latin typeface="Times New Roman" panose="02020603050405020304" pitchFamily="18" charset="0"/>
                <a:cs typeface="Times New Roman" panose="02020603050405020304" pitchFamily="18" charset="0"/>
              </a:rPr>
              <a:t> Transformer, , and DenseNet-121 + Transformer Encoder.</a:t>
            </a:r>
          </a:p>
          <a:p>
            <a:pPr lvl="0" algn="just">
              <a:lnSpc>
                <a:spcPct val="150000"/>
              </a:lnSpc>
            </a:pPr>
            <a:r>
              <a:rPr lang="en-IN" dirty="0">
                <a:latin typeface="Times New Roman" panose="02020603050405020304" pitchFamily="18" charset="0"/>
                <a:cs typeface="Times New Roman" panose="02020603050405020304" pitchFamily="18" charset="0"/>
              </a:rPr>
              <a:t>To extract spatial and contextual features effectively through the combined strengths of convolution and self-attention mechanisms.</a:t>
            </a:r>
          </a:p>
          <a:p>
            <a:pPr lvl="0" algn="just">
              <a:lnSpc>
                <a:spcPct val="150000"/>
              </a:lnSpc>
            </a:pPr>
            <a:r>
              <a:rPr lang="en-IN" dirty="0">
                <a:latin typeface="Times New Roman" panose="02020603050405020304" pitchFamily="18" charset="0"/>
                <a:cs typeface="Times New Roman" panose="02020603050405020304" pitchFamily="18" charset="0"/>
              </a:rPr>
              <a:t>To implement a Flask-based web application for classification with modules for Home, Register, Login, Classification, and Logout.</a:t>
            </a:r>
          </a:p>
          <a:p>
            <a:pPr lvl="0" algn="just">
              <a:lnSpc>
                <a:spcPct val="150000"/>
              </a:lnSpc>
            </a:pPr>
            <a:r>
              <a:rPr lang="en-IN" dirty="0">
                <a:latin typeface="Times New Roman" panose="02020603050405020304" pitchFamily="18" charset="0"/>
                <a:cs typeface="Times New Roman" panose="02020603050405020304" pitchFamily="18" charset="0"/>
              </a:rPr>
              <a:t>To evaluate model performance using various metrics and identify the most efficient architecture.</a:t>
            </a:r>
          </a:p>
        </p:txBody>
      </p:sp>
    </p:spTree>
    <p:extLst>
      <p:ext uri="{BB962C8B-B14F-4D97-AF65-F5344CB8AC3E}">
        <p14:creationId xmlns:p14="http://schemas.microsoft.com/office/powerpoint/2010/main" val="19617883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1024129" y="411482"/>
            <a:ext cx="9720072" cy="770709"/>
          </a:xfrm>
        </p:spPr>
        <p:txBody>
          <a:bodyPr>
            <a:normAutofit fontScale="90000"/>
          </a:bodyPr>
          <a:lstStyle/>
          <a:p>
            <a:pPr lvl="2" algn="ctr">
              <a:lnSpc>
                <a:spcPct val="170000"/>
              </a:lnSpc>
            </a:pPr>
            <a:r>
              <a:rPr lang="en-US" sz="3000" u="sng" dirty="0">
                <a:latin typeface="Times New Roman" panose="02020603050405020304" pitchFamily="18" charset="0"/>
                <a:cs typeface="Times New Roman" panose="02020603050405020304" pitchFamily="18" charset="0"/>
              </a:rPr>
              <a:t>SCOPE</a:t>
            </a:r>
            <a:br>
              <a:rPr lang="en-US" sz="3000" u="sng" dirty="0">
                <a:latin typeface="Times New Roman" panose="02020603050405020304" pitchFamily="18" charset="0"/>
                <a:cs typeface="Times New Roman" panose="02020603050405020304" pitchFamily="18" charset="0"/>
              </a:rPr>
            </a:br>
            <a:endParaRPr lang="en-US" sz="3000" u="sng" dirty="0">
              <a:latin typeface="Times New Roman" panose="02020603050405020304" pitchFamily="18" charset="0"/>
              <a:cs typeface="Times New Roman" panose="02020603050405020304" pitchFamily="18" charset="0"/>
            </a:endParaRPr>
          </a:p>
        </p:txBody>
      </p:sp>
      <p:sp>
        <p:nvSpPr>
          <p:cNvPr id="5" name="Rectangle 4"/>
          <p:cNvSpPr/>
          <p:nvPr/>
        </p:nvSpPr>
        <p:spPr>
          <a:xfrm>
            <a:off x="1024129" y="1414056"/>
            <a:ext cx="10784695" cy="4197559"/>
          </a:xfrm>
          <a:prstGeom prst="rect">
            <a:avLst/>
          </a:prstGeom>
        </p:spPr>
        <p:txBody>
          <a:bodyPr wrap="square">
            <a:spAutoFit/>
          </a:bodyPr>
          <a:lstStyle/>
          <a:p>
            <a:pPr algn="just">
              <a:lnSpc>
                <a:spcPct val="150000"/>
              </a:lnSpc>
            </a:pPr>
            <a:r>
              <a:rPr lang="en-US" dirty="0">
                <a:latin typeface="Times New Roman" panose="02020603050405020304" pitchFamily="18" charset="0"/>
                <a:cs typeface="Times New Roman" panose="02020603050405020304" pitchFamily="18" charset="0"/>
              </a:rPr>
              <a:t>The scope of this project includes the design, development, and evaluation of hybrid deep learning models combining CNN and Transformer architectures for Alzheimer’s disease stage prediction. The models explored—EfficientNet-B3 + </a:t>
            </a:r>
            <a:r>
              <a:rPr lang="en-US" dirty="0" err="1">
                <a:latin typeface="Times New Roman" panose="02020603050405020304" pitchFamily="18" charset="0"/>
                <a:cs typeface="Times New Roman" panose="02020603050405020304" pitchFamily="18" charset="0"/>
              </a:rPr>
              <a:t>Swin</a:t>
            </a:r>
            <a:r>
              <a:rPr lang="en-US" dirty="0">
                <a:latin typeface="Times New Roman" panose="02020603050405020304" pitchFamily="18" charset="0"/>
                <a:cs typeface="Times New Roman" panose="02020603050405020304" pitchFamily="18" charset="0"/>
              </a:rPr>
              <a:t> Transformer, ResNet-50 + </a:t>
            </a:r>
            <a:r>
              <a:rPr lang="en-US" dirty="0" err="1">
                <a:latin typeface="Times New Roman" panose="02020603050405020304" pitchFamily="18" charset="0"/>
                <a:cs typeface="Times New Roman" panose="02020603050405020304" pitchFamily="18" charset="0"/>
              </a:rPr>
              <a:t>Swin</a:t>
            </a:r>
            <a:r>
              <a:rPr lang="en-US" dirty="0">
                <a:latin typeface="Times New Roman" panose="02020603050405020304" pitchFamily="18" charset="0"/>
                <a:cs typeface="Times New Roman" panose="02020603050405020304" pitchFamily="18" charset="0"/>
              </a:rPr>
              <a:t> Transformer, and DenseNet-121 + Transformer Encoder—focus on extracting rich spatial and contextual features from MRI datasets. The project aims to create an integrated system that performs data preprocessing, feature learning, classification, and output visualization. The developed Flask-based application provides modules such as Home, Register, Login, Classification, and Logout for smooth workflow management. The scope extends to comparing the performance of multiple hybrid architectures based on accuracy, precision, recall, and computational efficiency. However, the project focuses exclusively on MRI image-based prediction within the provided dataset and does not include multi-modal or real-time medical data integration.</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839966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1141693" y="490253"/>
            <a:ext cx="9720072" cy="770709"/>
          </a:xfrm>
        </p:spPr>
        <p:txBody>
          <a:bodyPr>
            <a:normAutofit fontScale="90000"/>
          </a:bodyPr>
          <a:lstStyle/>
          <a:p>
            <a:pPr lvl="2" algn="ctr">
              <a:lnSpc>
                <a:spcPct val="170000"/>
              </a:lnSpc>
            </a:pPr>
            <a:r>
              <a:rPr lang="en-US" sz="3000" u="sng" dirty="0">
                <a:latin typeface="Times New Roman" panose="02020603050405020304" pitchFamily="18" charset="0"/>
                <a:cs typeface="Times New Roman" panose="02020603050405020304" pitchFamily="18" charset="0"/>
              </a:rPr>
              <a:t>SIGNIFICANCE OF PROJECT</a:t>
            </a:r>
            <a:br>
              <a:rPr lang="en-US" sz="3000" u="sng" dirty="0">
                <a:latin typeface="Times New Roman" panose="02020603050405020304" pitchFamily="18" charset="0"/>
                <a:cs typeface="Times New Roman" panose="02020603050405020304" pitchFamily="18" charset="0"/>
              </a:rPr>
            </a:br>
            <a:endParaRPr lang="en-US" sz="3000" u="sng" dirty="0">
              <a:latin typeface="Times New Roman" panose="02020603050405020304" pitchFamily="18" charset="0"/>
              <a:cs typeface="Times New Roman" panose="02020603050405020304" pitchFamily="18" charset="0"/>
            </a:endParaRPr>
          </a:p>
        </p:txBody>
      </p:sp>
      <p:sp>
        <p:nvSpPr>
          <p:cNvPr id="6" name="Rectangle 5"/>
          <p:cNvSpPr/>
          <p:nvPr/>
        </p:nvSpPr>
        <p:spPr>
          <a:xfrm>
            <a:off x="840480" y="1431931"/>
            <a:ext cx="10993699" cy="3782061"/>
          </a:xfrm>
          <a:prstGeom prst="rect">
            <a:avLst/>
          </a:prstGeom>
        </p:spPr>
        <p:txBody>
          <a:bodyPr wrap="square">
            <a:spAutoFit/>
          </a:bodyPr>
          <a:lstStyle/>
          <a:p>
            <a:pPr algn="just">
              <a:lnSpc>
                <a:spcPct val="150000"/>
              </a:lnSpc>
            </a:pPr>
            <a:r>
              <a:rPr lang="en-US" dirty="0">
                <a:latin typeface="Times New Roman" panose="02020603050405020304" pitchFamily="18" charset="0"/>
                <a:cs typeface="Times New Roman" panose="02020603050405020304" pitchFamily="18" charset="0"/>
              </a:rPr>
              <a:t>The scope of this project includes the design, development, and evaluation of hybrid deep learning models combining CNN and Transformer architectures for Alzheimer’s disease stage prediction. The models explored—EfficientNet-B3 + </a:t>
            </a:r>
            <a:r>
              <a:rPr lang="en-US" dirty="0" err="1">
                <a:latin typeface="Times New Roman" panose="02020603050405020304" pitchFamily="18" charset="0"/>
                <a:cs typeface="Times New Roman" panose="02020603050405020304" pitchFamily="18" charset="0"/>
              </a:rPr>
              <a:t>Swin</a:t>
            </a:r>
            <a:r>
              <a:rPr lang="en-US" dirty="0">
                <a:latin typeface="Times New Roman" panose="02020603050405020304" pitchFamily="18" charset="0"/>
                <a:cs typeface="Times New Roman" panose="02020603050405020304" pitchFamily="18" charset="0"/>
              </a:rPr>
              <a:t> Transformer, ResNet-50 + </a:t>
            </a:r>
            <a:r>
              <a:rPr lang="en-US" dirty="0" err="1">
                <a:latin typeface="Times New Roman" panose="02020603050405020304" pitchFamily="18" charset="0"/>
                <a:cs typeface="Times New Roman" panose="02020603050405020304" pitchFamily="18" charset="0"/>
              </a:rPr>
              <a:t>Swin</a:t>
            </a:r>
            <a:r>
              <a:rPr lang="en-US" dirty="0">
                <a:latin typeface="Times New Roman" panose="02020603050405020304" pitchFamily="18" charset="0"/>
                <a:cs typeface="Times New Roman" panose="02020603050405020304" pitchFamily="18" charset="0"/>
              </a:rPr>
              <a:t> Transformer, and DenseNet-121 + Transformer Encoder—focus on extracting rich spatial and contextual features from MRI datasets. The project aims to create an integrated system that performs data preprocessing, feature learning, classification, and output visualization. The developed Flask-based application provides modules such as Home, Register, Login, Classification, and Logout for smooth workflow management. The scope extends to comparing the performance of multiple hybrid architectures based on accuracy, precision, recall, and computational efficiency. However, the project focuses exclusively on MRI image-based prediction within the provided dataset and does not include multi-modal or real-time medical data integration.</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463947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1076379" y="320435"/>
            <a:ext cx="9720072" cy="770709"/>
          </a:xfrm>
        </p:spPr>
        <p:txBody>
          <a:bodyPr>
            <a:normAutofit fontScale="90000"/>
          </a:bodyPr>
          <a:lstStyle/>
          <a:p>
            <a:pPr lvl="2" algn="ctr">
              <a:lnSpc>
                <a:spcPct val="170000"/>
              </a:lnSpc>
            </a:pPr>
            <a:r>
              <a:rPr lang="en-US" sz="3000" u="sng" dirty="0">
                <a:latin typeface="Times New Roman" panose="02020603050405020304" pitchFamily="18" charset="0"/>
                <a:cs typeface="Times New Roman" panose="02020603050405020304" pitchFamily="18" charset="0"/>
              </a:rPr>
              <a:t>EXISTING SYSTEM</a:t>
            </a:r>
            <a:br>
              <a:rPr lang="en-US" sz="3000" u="sng" dirty="0">
                <a:latin typeface="Times New Roman" panose="02020603050405020304" pitchFamily="18" charset="0"/>
                <a:cs typeface="Times New Roman" panose="02020603050405020304" pitchFamily="18" charset="0"/>
              </a:rPr>
            </a:br>
            <a:endParaRPr lang="en-US" sz="3000" u="sng" dirty="0">
              <a:latin typeface="Times New Roman" panose="02020603050405020304" pitchFamily="18" charset="0"/>
              <a:cs typeface="Times New Roman" panose="02020603050405020304" pitchFamily="18" charset="0"/>
            </a:endParaRPr>
          </a:p>
        </p:txBody>
      </p:sp>
      <p:sp>
        <p:nvSpPr>
          <p:cNvPr id="3" name="Rectangle 2">
            <a:extLst>
              <a:ext uri="{FF2B5EF4-FFF2-40B4-BE49-F238E27FC236}">
                <a16:creationId xmlns:a16="http://schemas.microsoft.com/office/drawing/2014/main" id="{8A65B8F0-0014-4446-BBA4-489B3A48AEC4}"/>
              </a:ext>
            </a:extLst>
          </p:cNvPr>
          <p:cNvSpPr/>
          <p:nvPr/>
        </p:nvSpPr>
        <p:spPr>
          <a:xfrm>
            <a:off x="1076379" y="851568"/>
            <a:ext cx="10555327" cy="3366563"/>
          </a:xfrm>
          <a:prstGeom prst="rect">
            <a:avLst/>
          </a:prstGeom>
        </p:spPr>
        <p:txBody>
          <a:bodyPr wrap="square">
            <a:spAutoFit/>
          </a:bodyPr>
          <a:lstStyle/>
          <a:p>
            <a:pPr algn="just">
              <a:lnSpc>
                <a:spcPct val="150000"/>
              </a:lnSpc>
            </a:pPr>
            <a:r>
              <a:rPr lang="en-US" dirty="0">
                <a:latin typeface="Times New Roman" panose="02020603050405020304" pitchFamily="18" charset="0"/>
                <a:cs typeface="Times New Roman" panose="02020603050405020304" pitchFamily="18" charset="0"/>
              </a:rPr>
              <a:t>In the existing system, traditional deep learning models such as </a:t>
            </a:r>
            <a:r>
              <a:rPr lang="en-US" b="1" dirty="0">
                <a:latin typeface="Times New Roman" panose="02020603050405020304" pitchFamily="18" charset="0"/>
                <a:cs typeface="Times New Roman" panose="02020603050405020304" pitchFamily="18" charset="0"/>
              </a:rPr>
              <a:t>VGG16</a:t>
            </a:r>
            <a:r>
              <a:rPr lang="en-US"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AlexNet</a:t>
            </a:r>
            <a:r>
              <a:rPr lang="en-US" dirty="0">
                <a:latin typeface="Times New Roman" panose="02020603050405020304" pitchFamily="18" charset="0"/>
                <a:cs typeface="Times New Roman" panose="02020603050405020304" pitchFamily="18" charset="0"/>
              </a:rPr>
              <a:t>, and </a:t>
            </a:r>
            <a:r>
              <a:rPr lang="en-US" b="1" dirty="0" err="1">
                <a:latin typeface="Times New Roman" panose="02020603050405020304" pitchFamily="18" charset="0"/>
                <a:cs typeface="Times New Roman" panose="02020603050405020304" pitchFamily="18" charset="0"/>
              </a:rPr>
              <a:t>ResNet</a:t>
            </a:r>
            <a:r>
              <a:rPr lang="en-US" dirty="0">
                <a:latin typeface="Times New Roman" panose="02020603050405020304" pitchFamily="18" charset="0"/>
                <a:cs typeface="Times New Roman" panose="02020603050405020304" pitchFamily="18" charset="0"/>
              </a:rPr>
              <a:t> are commonly used for MRI image classification. These models rely mainly on convolutional layers to extract spatial features from the images. While CNN-based methods have achieved good results in medical image analysis, they often depend on deep hierarchical structures that focus only on local features. The models process each image in fixed receptive fields, which limits their ability to capture global dependencies and relationships across distant regions of the brain. As a result, these networks may fail to identify subtle variations that indicate different stages of Alzheimer’s disease. Furthermore, their performance is highly dependent on dataset size, data quality, and fine-tuning strategies, which restrict overall accuracy and generalization.</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902220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1076379" y="320435"/>
            <a:ext cx="9720072" cy="770709"/>
          </a:xfrm>
        </p:spPr>
        <p:txBody>
          <a:bodyPr>
            <a:normAutofit fontScale="90000"/>
          </a:bodyPr>
          <a:lstStyle/>
          <a:p>
            <a:pPr lvl="2" algn="ctr">
              <a:lnSpc>
                <a:spcPct val="170000"/>
              </a:lnSpc>
            </a:pPr>
            <a:r>
              <a:rPr lang="en-US" sz="3000" u="sng" dirty="0">
                <a:latin typeface="Times New Roman" panose="02020603050405020304" pitchFamily="18" charset="0"/>
                <a:cs typeface="Times New Roman" panose="02020603050405020304" pitchFamily="18" charset="0"/>
              </a:rPr>
              <a:t>Disadvantages of Existing System</a:t>
            </a:r>
            <a:br>
              <a:rPr lang="en-US" sz="3000" u="sng" dirty="0">
                <a:latin typeface="Times New Roman" panose="02020603050405020304" pitchFamily="18" charset="0"/>
                <a:cs typeface="Times New Roman" panose="02020603050405020304" pitchFamily="18" charset="0"/>
              </a:rPr>
            </a:br>
            <a:endParaRPr lang="en-US" sz="3000" u="sng" dirty="0">
              <a:latin typeface="Times New Roman" panose="02020603050405020304" pitchFamily="18" charset="0"/>
              <a:cs typeface="Times New Roman" panose="02020603050405020304" pitchFamily="18" charset="0"/>
            </a:endParaRPr>
          </a:p>
        </p:txBody>
      </p:sp>
      <p:sp>
        <p:nvSpPr>
          <p:cNvPr id="3" name="Rectangle 2">
            <a:extLst>
              <a:ext uri="{FF2B5EF4-FFF2-40B4-BE49-F238E27FC236}">
                <a16:creationId xmlns:a16="http://schemas.microsoft.com/office/drawing/2014/main" id="{8A65B8F0-0014-4446-BBA4-489B3A48AEC4}"/>
              </a:ext>
            </a:extLst>
          </p:cNvPr>
          <p:cNvSpPr/>
          <p:nvPr/>
        </p:nvSpPr>
        <p:spPr>
          <a:xfrm>
            <a:off x="818336" y="1335662"/>
            <a:ext cx="10555327" cy="2951064"/>
          </a:xfrm>
          <a:prstGeom prst="rect">
            <a:avLst/>
          </a:prstGeom>
        </p:spPr>
        <p:txBody>
          <a:bodyPr wrap="square">
            <a:spAutoFit/>
          </a:bodyPr>
          <a:lstStyle/>
          <a:p>
            <a:pPr algn="just">
              <a:lnSpc>
                <a:spcPct val="150000"/>
              </a:lnSpc>
            </a:pPr>
            <a:r>
              <a:rPr lang="en-US" dirty="0">
                <a:latin typeface="Times New Roman" panose="02020603050405020304" pitchFamily="18" charset="0"/>
                <a:cs typeface="Times New Roman" panose="02020603050405020304" pitchFamily="18" charset="0"/>
              </a:rPr>
              <a:t>· Limited ability to capture global contextual information</a:t>
            </a:r>
            <a:endParaRPr lang="en-IN" dirty="0">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 Performance decreases with small or imbalanced datasets</a:t>
            </a:r>
            <a:endParaRPr lang="en-IN" dirty="0">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 High dependency on complex feature engineering</a:t>
            </a:r>
            <a:endParaRPr lang="en-IN" dirty="0">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 Difficulty in identifying subtle stage variations</a:t>
            </a:r>
            <a:endParaRPr lang="en-IN" dirty="0">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 Limited adaptability to varying MRI patterns</a:t>
            </a:r>
            <a:endParaRPr lang="en-IN" dirty="0">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 Higher chances of overfitting in deeper networks</a:t>
            </a:r>
            <a:endParaRPr lang="en-IN" dirty="0">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 Less interpretability of learned features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406401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1063701" y="309860"/>
            <a:ext cx="9720072" cy="770709"/>
          </a:xfrm>
        </p:spPr>
        <p:txBody>
          <a:bodyPr>
            <a:normAutofit fontScale="90000"/>
          </a:bodyPr>
          <a:lstStyle/>
          <a:p>
            <a:pPr lvl="2" algn="ctr">
              <a:lnSpc>
                <a:spcPct val="170000"/>
              </a:lnSpc>
            </a:pPr>
            <a:r>
              <a:rPr lang="en-US" sz="3000" u="sng" dirty="0">
                <a:latin typeface="Times New Roman" panose="02020603050405020304" pitchFamily="18" charset="0"/>
                <a:cs typeface="Times New Roman" panose="02020603050405020304" pitchFamily="18" charset="0"/>
              </a:rPr>
              <a:t>PROPOSED SYSTEM</a:t>
            </a:r>
            <a:br>
              <a:rPr lang="en-US" sz="3000" u="sng" dirty="0">
                <a:latin typeface="Times New Roman" panose="02020603050405020304" pitchFamily="18" charset="0"/>
                <a:cs typeface="Times New Roman" panose="02020603050405020304" pitchFamily="18" charset="0"/>
              </a:rPr>
            </a:br>
            <a:endParaRPr lang="en-US" sz="3000" u="sng" dirty="0">
              <a:latin typeface="Times New Roman" panose="02020603050405020304" pitchFamily="18" charset="0"/>
              <a:cs typeface="Times New Roman" panose="02020603050405020304" pitchFamily="18" charset="0"/>
            </a:endParaRPr>
          </a:p>
        </p:txBody>
      </p:sp>
      <p:sp>
        <p:nvSpPr>
          <p:cNvPr id="3" name="Rectangle 2">
            <a:extLst>
              <a:ext uri="{FF2B5EF4-FFF2-40B4-BE49-F238E27FC236}">
                <a16:creationId xmlns:a16="http://schemas.microsoft.com/office/drawing/2014/main" id="{7B02D910-1F55-4ADA-B897-C4A48D483254}"/>
              </a:ext>
            </a:extLst>
          </p:cNvPr>
          <p:cNvSpPr/>
          <p:nvPr/>
        </p:nvSpPr>
        <p:spPr>
          <a:xfrm>
            <a:off x="838200" y="1004570"/>
            <a:ext cx="11080376" cy="4197559"/>
          </a:xfrm>
          <a:prstGeom prst="rect">
            <a:avLst/>
          </a:prstGeom>
        </p:spPr>
        <p:txBody>
          <a:bodyPr wrap="square">
            <a:spAutoFit/>
          </a:bodyPr>
          <a:lstStyle/>
          <a:p>
            <a:pPr algn="just">
              <a:lnSpc>
                <a:spcPct val="150000"/>
              </a:lnSpc>
            </a:pPr>
            <a:r>
              <a:rPr lang="en-US" dirty="0">
                <a:latin typeface="Times New Roman" panose="02020603050405020304" pitchFamily="18" charset="0"/>
                <a:cs typeface="Times New Roman" panose="02020603050405020304" pitchFamily="18" charset="0"/>
              </a:rPr>
              <a:t>The proposed system introduces a </a:t>
            </a:r>
            <a:r>
              <a:rPr lang="en-US" b="1" dirty="0">
                <a:latin typeface="Times New Roman" panose="02020603050405020304" pitchFamily="18" charset="0"/>
                <a:cs typeface="Times New Roman" panose="02020603050405020304" pitchFamily="18" charset="0"/>
              </a:rPr>
              <a:t>hybrid CNN–Transformer model</a:t>
            </a:r>
            <a:r>
              <a:rPr lang="en-US" dirty="0">
                <a:latin typeface="Times New Roman" panose="02020603050405020304" pitchFamily="18" charset="0"/>
                <a:cs typeface="Times New Roman" panose="02020603050405020304" pitchFamily="18" charset="0"/>
              </a:rPr>
              <a:t> for Alzheimer’s disease stage prediction using MRI images. Unlike traditional CNN models, this system combines convolutional networks (EfficientNet-B3, ResNet-50,DenseNet-121) with attention-based Transformer models (</a:t>
            </a:r>
            <a:r>
              <a:rPr lang="en-US" dirty="0" err="1">
                <a:latin typeface="Times New Roman" panose="02020603050405020304" pitchFamily="18" charset="0"/>
                <a:cs typeface="Times New Roman" panose="02020603050405020304" pitchFamily="18" charset="0"/>
              </a:rPr>
              <a:t>Swin</a:t>
            </a:r>
            <a:r>
              <a:rPr lang="en-US" dirty="0">
                <a:latin typeface="Times New Roman" panose="02020603050405020304" pitchFamily="18" charset="0"/>
                <a:cs typeface="Times New Roman" panose="02020603050405020304" pitchFamily="18" charset="0"/>
              </a:rPr>
              <a:t> Transformer, Vision Transformer, Transformer Encoder). The CNN part efficiently extracts spatial and hierarchical features from MRI images, while the Transformer component captures global dependencies and contextual relationships between distant regions in the brain.</a:t>
            </a:r>
            <a:endParaRPr lang="en-IN" dirty="0">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The system classifies MRI images into five categories: Irrelevant, Very Mild Impairment, Mild Impairment, Moderate Impairment, and No Impairment. A </a:t>
            </a:r>
            <a:r>
              <a:rPr lang="en-US" b="1" dirty="0">
                <a:latin typeface="Times New Roman" panose="02020603050405020304" pitchFamily="18" charset="0"/>
                <a:cs typeface="Times New Roman" panose="02020603050405020304" pitchFamily="18" charset="0"/>
              </a:rPr>
              <a:t>Flask-based interface</a:t>
            </a:r>
            <a:r>
              <a:rPr lang="en-US" dirty="0">
                <a:latin typeface="Times New Roman" panose="02020603050405020304" pitchFamily="18" charset="0"/>
                <a:cs typeface="Times New Roman" panose="02020603050405020304" pitchFamily="18" charset="0"/>
              </a:rPr>
              <a:t> is developed to allow structured workflow with modules like Home, Register, Login, Classification, and Logout. By combining the strengths of CNNs and Transformers, the proposed system improves feature representation, enhances prediction accuracy, and reduces misclassification of subtle disease stages.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504702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1050254" y="94707"/>
            <a:ext cx="9720072" cy="770709"/>
          </a:xfrm>
        </p:spPr>
        <p:txBody>
          <a:bodyPr>
            <a:normAutofit/>
          </a:bodyPr>
          <a:lstStyle/>
          <a:p>
            <a:pPr lvl="2" algn="ctr">
              <a:lnSpc>
                <a:spcPct val="170000"/>
              </a:lnSpc>
            </a:pPr>
            <a:r>
              <a:rPr lang="en-US" sz="3000" u="sng" dirty="0">
                <a:latin typeface="Times New Roman" panose="02020603050405020304" pitchFamily="18" charset="0"/>
                <a:cs typeface="Times New Roman" panose="02020603050405020304" pitchFamily="18" charset="0"/>
              </a:rPr>
              <a:t>Advantages of Proposed System</a:t>
            </a:r>
          </a:p>
        </p:txBody>
      </p:sp>
      <p:sp>
        <p:nvSpPr>
          <p:cNvPr id="3" name="Rectangle 2">
            <a:extLst>
              <a:ext uri="{FF2B5EF4-FFF2-40B4-BE49-F238E27FC236}">
                <a16:creationId xmlns:a16="http://schemas.microsoft.com/office/drawing/2014/main" id="{7B02D910-1F55-4ADA-B897-C4A48D483254}"/>
              </a:ext>
            </a:extLst>
          </p:cNvPr>
          <p:cNvSpPr/>
          <p:nvPr/>
        </p:nvSpPr>
        <p:spPr>
          <a:xfrm>
            <a:off x="1125069" y="1623135"/>
            <a:ext cx="10703859" cy="2951064"/>
          </a:xfrm>
          <a:prstGeom prst="rect">
            <a:avLst/>
          </a:prstGeom>
        </p:spPr>
        <p:txBody>
          <a:bodyPr wrap="square">
            <a:spAutoFit/>
          </a:bodyPr>
          <a:lstStyle/>
          <a:p>
            <a:pPr algn="just">
              <a:lnSpc>
                <a:spcPct val="150000"/>
              </a:lnSpc>
            </a:pPr>
            <a:r>
              <a:rPr lang="en-US" dirty="0">
                <a:latin typeface="Times New Roman" panose="02020603050405020304" pitchFamily="18" charset="0"/>
                <a:cs typeface="Times New Roman" panose="02020603050405020304" pitchFamily="18" charset="0"/>
              </a:rPr>
              <a:t>· Captures both local and global features effectively</a:t>
            </a:r>
            <a:endParaRPr lang="en-IN" dirty="0">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 Higher classification accuracy compared to traditional models</a:t>
            </a:r>
            <a:endParaRPr lang="en-IN" dirty="0">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 Better performance with small or imbalanced datasets</a:t>
            </a:r>
            <a:endParaRPr lang="en-IN" dirty="0">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 Efficient classification of subtle variations between Alzheimer’s stages</a:t>
            </a:r>
            <a:endParaRPr lang="en-IN" dirty="0">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·Improved generalization and stability across MRI images</a:t>
            </a:r>
            <a:endParaRPr lang="en-IN" dirty="0">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 Reduced overfitting in deep networks</a:t>
            </a:r>
            <a:endParaRPr lang="en-IN" dirty="0">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 Structured workflow through Flask-based application modules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673748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188212" y="412377"/>
            <a:ext cx="4292429" cy="453295"/>
          </a:xfrm>
        </p:spPr>
        <p:txBody>
          <a:bodyPr>
            <a:normAutofit fontScale="90000"/>
          </a:bodyPr>
          <a:lstStyle/>
          <a:p>
            <a:pPr lvl="2" algn="ctr">
              <a:lnSpc>
                <a:spcPct val="170000"/>
              </a:lnSpc>
            </a:pPr>
            <a:r>
              <a:rPr lang="en-US" sz="3000" u="sng" dirty="0">
                <a:latin typeface="Times New Roman" panose="02020603050405020304" pitchFamily="18" charset="0"/>
                <a:cs typeface="Times New Roman" panose="02020603050405020304" pitchFamily="18" charset="0"/>
              </a:rPr>
              <a:t>PROJECT FLOW</a:t>
            </a:r>
            <a:br>
              <a:rPr lang="en-US" sz="3000" u="sng" dirty="0">
                <a:latin typeface="Times New Roman" panose="02020603050405020304" pitchFamily="18" charset="0"/>
                <a:cs typeface="Times New Roman" panose="02020603050405020304" pitchFamily="18" charset="0"/>
              </a:rPr>
            </a:br>
            <a:endParaRPr lang="en-US" sz="3000" u="sng"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52986C11-CCE4-4129-B951-B88A2A2D714D}"/>
              </a:ext>
            </a:extLst>
          </p:cNvPr>
          <p:cNvPicPr/>
          <p:nvPr/>
        </p:nvPicPr>
        <p:blipFill>
          <a:blip r:embed="rId2"/>
          <a:stretch>
            <a:fillRect/>
          </a:stretch>
        </p:blipFill>
        <p:spPr>
          <a:xfrm>
            <a:off x="4747260" y="92392"/>
            <a:ext cx="2697480" cy="667321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6374198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762871" y="760912"/>
            <a:ext cx="9720072" cy="770709"/>
          </a:xfrm>
        </p:spPr>
        <p:txBody>
          <a:bodyPr>
            <a:normAutofit fontScale="90000"/>
          </a:bodyPr>
          <a:lstStyle/>
          <a:p>
            <a:pPr lvl="2">
              <a:lnSpc>
                <a:spcPct val="170000"/>
              </a:lnSpc>
            </a:pPr>
            <a:r>
              <a:rPr lang="en-US" sz="3000" u="sng" dirty="0">
                <a:latin typeface="Times New Roman" panose="02020603050405020304" pitchFamily="18" charset="0"/>
                <a:cs typeface="Times New Roman" panose="02020603050405020304" pitchFamily="18" charset="0"/>
              </a:rPr>
              <a:t>Resource Requirements</a:t>
            </a:r>
            <a:br>
              <a:rPr lang="en-US" sz="3000" u="sng" dirty="0">
                <a:latin typeface="Times New Roman" panose="02020603050405020304" pitchFamily="18" charset="0"/>
                <a:cs typeface="Times New Roman" panose="02020603050405020304" pitchFamily="18" charset="0"/>
              </a:rPr>
            </a:br>
            <a:endParaRPr lang="en-US" sz="3000" u="sng" dirty="0">
              <a:latin typeface="Times New Roman" panose="02020603050405020304" pitchFamily="18" charset="0"/>
              <a:cs typeface="Times New Roman" panose="02020603050405020304" pitchFamily="18" charset="0"/>
            </a:endParaRPr>
          </a:p>
        </p:txBody>
      </p:sp>
      <p:sp>
        <p:nvSpPr>
          <p:cNvPr id="3" name="Rectangle 2"/>
          <p:cNvSpPr/>
          <p:nvPr/>
        </p:nvSpPr>
        <p:spPr>
          <a:xfrm>
            <a:off x="396240" y="2256417"/>
            <a:ext cx="6096000" cy="1704569"/>
          </a:xfrm>
          <a:prstGeom prst="rect">
            <a:avLst/>
          </a:prstGeom>
        </p:spPr>
        <p:txBody>
          <a:bodyPr>
            <a:spAutoFit/>
          </a:bodyPr>
          <a:lstStyle/>
          <a:p>
            <a:pPr marL="342900" lvl="0" indent="-342900" algn="just">
              <a:lnSpc>
                <a:spcPct val="150000"/>
              </a:lnSpc>
              <a:spcAft>
                <a:spcPts val="0"/>
              </a:spcAft>
              <a:buFont typeface="Arial" panose="020B0604020202020204" pitchFamily="34" charset="0"/>
              <a:buChar char="•"/>
              <a:tabLst>
                <a:tab pos="457200" algn="l"/>
              </a:tabLst>
            </a:pPr>
            <a:r>
              <a:rPr lang="en-US" dirty="0">
                <a:solidFill>
                  <a:srgbClr val="000000"/>
                </a:solidFill>
                <a:latin typeface="Times New Roman" panose="02020603050405020304" pitchFamily="18" charset="0"/>
                <a:ea typeface="Times New Roman" panose="02020603050405020304" pitchFamily="18" charset="0"/>
              </a:rPr>
              <a:t>Operating System		:  Windows 7/8/10</a:t>
            </a:r>
          </a:p>
          <a:p>
            <a:pPr marL="342900" lvl="0" indent="-342900" algn="just">
              <a:lnSpc>
                <a:spcPct val="150000"/>
              </a:lnSpc>
              <a:spcAft>
                <a:spcPts val="0"/>
              </a:spcAft>
              <a:buFont typeface="Arial" panose="020B0604020202020204" pitchFamily="34" charset="0"/>
              <a:buChar char="•"/>
              <a:tabLst>
                <a:tab pos="457200" algn="l"/>
              </a:tabLst>
            </a:pPr>
            <a:r>
              <a:rPr lang="en-US" dirty="0">
                <a:solidFill>
                  <a:srgbClr val="000000"/>
                </a:solidFill>
                <a:latin typeface="Times New Roman" panose="02020603050405020304" pitchFamily="18" charset="0"/>
                <a:ea typeface="Times New Roman" panose="02020603050405020304" pitchFamily="18" charset="0"/>
              </a:rPr>
              <a:t>Programming Language	:  Python</a:t>
            </a:r>
          </a:p>
          <a:p>
            <a:pPr marL="342900" lvl="0" indent="-342900" algn="just">
              <a:lnSpc>
                <a:spcPct val="150000"/>
              </a:lnSpc>
              <a:spcAft>
                <a:spcPts val="0"/>
              </a:spcAft>
              <a:buFont typeface="Arial" panose="020B0604020202020204" pitchFamily="34" charset="0"/>
              <a:buChar char="•"/>
              <a:tabLst>
                <a:tab pos="457200" algn="l"/>
              </a:tabLst>
            </a:pPr>
            <a:r>
              <a:rPr lang="en-US" dirty="0">
                <a:solidFill>
                  <a:srgbClr val="000000"/>
                </a:solidFill>
                <a:latin typeface="Times New Roman" panose="02020603050405020304" pitchFamily="18" charset="0"/>
                <a:ea typeface="Times New Roman" panose="02020603050405020304" pitchFamily="18" charset="0"/>
              </a:rPr>
              <a:t>Libraries			:  Pandas, </a:t>
            </a:r>
            <a:r>
              <a:rPr lang="en-US" dirty="0" err="1">
                <a:solidFill>
                  <a:srgbClr val="000000"/>
                </a:solidFill>
                <a:latin typeface="Times New Roman" panose="02020603050405020304" pitchFamily="18" charset="0"/>
                <a:ea typeface="Times New Roman" panose="02020603050405020304" pitchFamily="18" charset="0"/>
              </a:rPr>
              <a:t>Numpy</a:t>
            </a:r>
            <a:r>
              <a:rPr lang="en-US" dirty="0">
                <a:solidFill>
                  <a:srgbClr val="000000"/>
                </a:solidFill>
                <a:latin typeface="Times New Roman" panose="02020603050405020304" pitchFamily="18" charset="0"/>
                <a:ea typeface="Times New Roman" panose="02020603050405020304" pitchFamily="18" charset="0"/>
              </a:rPr>
              <a:t>, </a:t>
            </a:r>
            <a:r>
              <a:rPr lang="en-US" dirty="0" err="1">
                <a:solidFill>
                  <a:srgbClr val="000000"/>
                </a:solidFill>
                <a:latin typeface="Times New Roman" panose="02020603050405020304" pitchFamily="18" charset="0"/>
                <a:ea typeface="Times New Roman" panose="02020603050405020304" pitchFamily="18" charset="0"/>
              </a:rPr>
              <a:t>scikit</a:t>
            </a:r>
            <a:r>
              <a:rPr lang="en-US" dirty="0">
                <a:solidFill>
                  <a:srgbClr val="000000"/>
                </a:solidFill>
                <a:latin typeface="Times New Roman" panose="02020603050405020304" pitchFamily="18" charset="0"/>
                <a:ea typeface="Times New Roman" panose="02020603050405020304" pitchFamily="18" charset="0"/>
              </a:rPr>
              <a:t>-learn.</a:t>
            </a:r>
          </a:p>
          <a:p>
            <a:pPr marL="342900" lvl="0" indent="-342900" algn="just">
              <a:lnSpc>
                <a:spcPct val="150000"/>
              </a:lnSpc>
              <a:spcAft>
                <a:spcPts val="0"/>
              </a:spcAft>
              <a:buFont typeface="Arial" panose="020B0604020202020204" pitchFamily="34" charset="0"/>
              <a:buChar char="•"/>
              <a:tabLst>
                <a:tab pos="457200" algn="l"/>
              </a:tabLst>
            </a:pPr>
            <a:r>
              <a:rPr lang="en-US" dirty="0">
                <a:solidFill>
                  <a:srgbClr val="000000"/>
                </a:solidFill>
                <a:latin typeface="Times New Roman" panose="02020603050405020304" pitchFamily="18" charset="0"/>
                <a:ea typeface="Times New Roman" panose="02020603050405020304" pitchFamily="18" charset="0"/>
              </a:rPr>
              <a:t>IDE/Workbench		:  Visual Studio Code.</a:t>
            </a:r>
          </a:p>
        </p:txBody>
      </p:sp>
      <p:sp>
        <p:nvSpPr>
          <p:cNvPr id="5" name="Rectangle 4"/>
          <p:cNvSpPr/>
          <p:nvPr/>
        </p:nvSpPr>
        <p:spPr>
          <a:xfrm>
            <a:off x="6379029" y="1531621"/>
            <a:ext cx="5812971" cy="3154710"/>
          </a:xfrm>
          <a:prstGeom prst="rect">
            <a:avLst/>
          </a:prstGeom>
        </p:spPr>
        <p:txBody>
          <a:bodyPr wrap="square">
            <a:spAutoFit/>
          </a:bodyPr>
          <a:lstStyle/>
          <a:p>
            <a:pPr algn="just">
              <a:lnSpc>
                <a:spcPct val="150000"/>
              </a:lnSpc>
              <a:spcBef>
                <a:spcPts val="1200"/>
              </a:spcBef>
              <a:spcAft>
                <a:spcPts val="0"/>
              </a:spcAft>
            </a:pPr>
            <a:r>
              <a:rPr lang="en-US" b="1" kern="1800" dirty="0">
                <a:solidFill>
                  <a:srgbClr val="000000"/>
                </a:solidFill>
                <a:latin typeface="Times New Roman" panose="02020603050405020304" pitchFamily="18" charset="0"/>
                <a:ea typeface="SimSun" panose="02010600030101010101" pitchFamily="2" charset="-122"/>
                <a:cs typeface="Times New Roman" panose="02020603050405020304" pitchFamily="18" charset="0"/>
              </a:rPr>
              <a:t>H/W CONFIGURATION:</a:t>
            </a:r>
            <a:endParaRPr lang="en-IN" sz="2400" b="1" kern="0" dirty="0">
              <a:solidFill>
                <a:srgbClr val="2E75B5"/>
              </a:solidFill>
              <a:latin typeface="Calibri Light" panose="020F0302020204030204" pitchFamily="34" charset="0"/>
              <a:ea typeface="SimSun" panose="02010600030101010101" pitchFamily="2" charset="-122"/>
              <a:cs typeface="Times New Roman" panose="02020603050405020304" pitchFamily="18" charset="0"/>
            </a:endParaRPr>
          </a:p>
          <a:p>
            <a:pPr indent="457200" algn="just">
              <a:lnSpc>
                <a:spcPct val="150000"/>
              </a:lnSpc>
              <a:spcBef>
                <a:spcPts val="1200"/>
              </a:spcBef>
              <a:spcAft>
                <a:spcPts val="0"/>
              </a:spcAft>
            </a:pPr>
            <a:r>
              <a:rPr lang="en-US" b="1" kern="1800" dirty="0">
                <a:solidFill>
                  <a:srgbClr val="000000"/>
                </a:solidFill>
                <a:latin typeface="Times New Roman" panose="02020603050405020304" pitchFamily="18" charset="0"/>
                <a:ea typeface="SimSun" panose="02010600030101010101" pitchFamily="2" charset="-122"/>
                <a:cs typeface="Times New Roman" panose="02020603050405020304" pitchFamily="18" charset="0"/>
              </a:rPr>
              <a:t>Processor			- I3/Intel Processor</a:t>
            </a:r>
            <a:endParaRPr lang="en-IN" sz="2400" b="1" kern="0" dirty="0">
              <a:solidFill>
                <a:srgbClr val="2E75B5"/>
              </a:solidFill>
              <a:latin typeface="Calibri Light" panose="020F0302020204030204" pitchFamily="34" charset="0"/>
              <a:ea typeface="SimSun" panose="02010600030101010101" pitchFamily="2" charset="-122"/>
              <a:cs typeface="Times New Roman" panose="02020603050405020304" pitchFamily="18" charset="0"/>
            </a:endParaRPr>
          </a:p>
          <a:p>
            <a:pPr indent="457200" algn="just">
              <a:lnSpc>
                <a:spcPct val="150000"/>
              </a:lnSpc>
              <a:spcAft>
                <a:spcPts val="0"/>
              </a:spcAft>
            </a:pPr>
            <a:r>
              <a:rPr lang="en-IN"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Hard Disk			- 160GB</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indent="457200" algn="just">
              <a:lnSpc>
                <a:spcPct val="150000"/>
              </a:lnSpc>
              <a:spcAft>
                <a:spcPts val="0"/>
              </a:spcAft>
            </a:pPr>
            <a:r>
              <a:rPr lang="en-IN"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Key Board			- Standard Windows Keyboard</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indent="457200" algn="just">
              <a:lnSpc>
                <a:spcPct val="150000"/>
              </a:lnSpc>
              <a:spcAft>
                <a:spcPts val="0"/>
              </a:spcAft>
            </a:pPr>
            <a:r>
              <a:rPr lang="en-IN"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Mouse				- Two or Three Button Mouse</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indent="457200" algn="just">
              <a:lnSpc>
                <a:spcPct val="150000"/>
              </a:lnSpc>
              <a:spcAft>
                <a:spcPts val="0"/>
              </a:spcAft>
            </a:pPr>
            <a:r>
              <a:rPr lang="en-IN"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Monitor			        - SVGA</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indent="457200" algn="just">
              <a:lnSpc>
                <a:spcPct val="150000"/>
              </a:lnSpc>
              <a:spcAft>
                <a:spcPts val="0"/>
              </a:spcAft>
            </a:pPr>
            <a:r>
              <a:rPr lang="en-IN"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RAM				- 8GB</a:t>
            </a:r>
            <a:endParaRPr lang="en-IN" sz="1600" dirty="0">
              <a:latin typeface="Calibri" panose="020F0502020204030204" pitchFamily="34" charset="0"/>
              <a:ea typeface="Calibri" panose="020F0502020204030204" pitchFamily="34" charset="0"/>
              <a:cs typeface="Times New Roman" panose="02020603050405020304" pitchFamily="18" charset="0"/>
            </a:endParaRPr>
          </a:p>
        </p:txBody>
      </p:sp>
      <p:sp>
        <p:nvSpPr>
          <p:cNvPr id="6" name="Rectangle 5"/>
          <p:cNvSpPr/>
          <p:nvPr/>
        </p:nvSpPr>
        <p:spPr>
          <a:xfrm>
            <a:off x="653039" y="1531621"/>
            <a:ext cx="2734595" cy="507831"/>
          </a:xfrm>
          <a:prstGeom prst="rect">
            <a:avLst/>
          </a:prstGeom>
        </p:spPr>
        <p:txBody>
          <a:bodyPr wrap="none">
            <a:spAutoFit/>
          </a:bodyPr>
          <a:lstStyle/>
          <a:p>
            <a:pPr algn="just">
              <a:lnSpc>
                <a:spcPct val="150000"/>
              </a:lnSpc>
              <a:spcBef>
                <a:spcPts val="1200"/>
              </a:spcBef>
              <a:spcAft>
                <a:spcPts val="0"/>
              </a:spcAft>
            </a:pPr>
            <a:r>
              <a:rPr lang="en-IN" b="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S/W CONFIGURATION:</a:t>
            </a:r>
            <a:endParaRPr lang="en-IN" sz="16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630287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949208" y="359806"/>
            <a:ext cx="9720072" cy="770709"/>
          </a:xfrm>
        </p:spPr>
        <p:txBody>
          <a:bodyPr>
            <a:normAutofit fontScale="90000"/>
          </a:bodyPr>
          <a:lstStyle/>
          <a:p>
            <a:pPr lvl="2" algn="ctr">
              <a:lnSpc>
                <a:spcPct val="170000"/>
              </a:lnSpc>
            </a:pPr>
            <a:r>
              <a:rPr lang="en-US" sz="3000" u="sng" dirty="0">
                <a:latin typeface="Times New Roman" panose="02020603050405020304" pitchFamily="18" charset="0"/>
                <a:cs typeface="Times New Roman" panose="02020603050405020304" pitchFamily="18" charset="0"/>
              </a:rPr>
              <a:t>RESEARCH GAP ANALYSIS</a:t>
            </a:r>
            <a:br>
              <a:rPr lang="en-US" sz="3000" u="sng" dirty="0">
                <a:latin typeface="Times New Roman" panose="02020603050405020304" pitchFamily="18" charset="0"/>
                <a:cs typeface="Times New Roman" panose="02020603050405020304" pitchFamily="18" charset="0"/>
              </a:rPr>
            </a:br>
            <a:endParaRPr lang="en-US" sz="3000" u="sng" dirty="0">
              <a:latin typeface="Times New Roman" panose="02020603050405020304" pitchFamily="18" charset="0"/>
              <a:cs typeface="Times New Roman" panose="02020603050405020304" pitchFamily="18" charset="0"/>
            </a:endParaRPr>
          </a:p>
        </p:txBody>
      </p:sp>
      <p:sp>
        <p:nvSpPr>
          <p:cNvPr id="3" name="Rectangle 2"/>
          <p:cNvSpPr/>
          <p:nvPr/>
        </p:nvSpPr>
        <p:spPr>
          <a:xfrm>
            <a:off x="837816" y="1234690"/>
            <a:ext cx="11025051" cy="4613058"/>
          </a:xfrm>
          <a:prstGeom prst="rect">
            <a:avLst/>
          </a:prstGeom>
        </p:spPr>
        <p:txBody>
          <a:bodyPr wrap="square">
            <a:spAutoFit/>
          </a:bodyPr>
          <a:lstStyle/>
          <a:p>
            <a:pPr>
              <a:lnSpc>
                <a:spcPct val="150000"/>
              </a:lnSpc>
            </a:pPr>
            <a:r>
              <a:rPr lang="en-US" dirty="0">
                <a:latin typeface="Times New Roman" panose="02020603050405020304" pitchFamily="18" charset="0"/>
                <a:cs typeface="Times New Roman" panose="02020603050405020304" pitchFamily="18" charset="0"/>
              </a:rPr>
              <a:t>Alzheimer’s disease is a progressive neurodegenerative disorder, and early detection is critical for effective management. Existing research primarily focuses on traditional machine learning and classical CNN models for MRI-based Alzheimer’s classification. While these approaches achieve moderate accuracy, they often face challenges in capturing both local and global contextual features from MRI scans. Many models rely solely on CNNs, which excel at extracting local spatial patterns but may struggle to identify long-range dependencies and subtle changes in brain regions.</a:t>
            </a:r>
          </a:p>
          <a:p>
            <a:pPr>
              <a:lnSpc>
                <a:spcPct val="150000"/>
              </a:lnSpc>
            </a:pPr>
            <a:r>
              <a:rPr lang="en-US" dirty="0">
                <a:latin typeface="Times New Roman" panose="02020603050405020304" pitchFamily="18" charset="0"/>
                <a:cs typeface="Times New Roman" panose="02020603050405020304" pitchFamily="18" charset="0"/>
              </a:rPr>
              <a:t>Furthermore, most prior studies have focused on binary or three-class classification of Alzheimer’s stages, limiting their applicability in real-world scenarios where multi-stage prediction is crucial. Datasets used in earlier works are often small, preprocessed differently, or lack sufficient diversity, affecting model generalization. Additionally, few studies integrate user-friendly interfaces for practical deployment, and </a:t>
            </a:r>
            <a:r>
              <a:rPr lang="en-US" dirty="0" err="1">
                <a:latin typeface="Times New Roman" panose="02020603050405020304" pitchFamily="18" charset="0"/>
                <a:cs typeface="Times New Roman" panose="02020603050405020304" pitchFamily="18" charset="0"/>
              </a:rPr>
              <a:t>explainability</a:t>
            </a:r>
            <a:r>
              <a:rPr lang="en-US" dirty="0">
                <a:latin typeface="Times New Roman" panose="02020603050405020304" pitchFamily="18" charset="0"/>
                <a:cs typeface="Times New Roman" panose="02020603050405020304" pitchFamily="18" charset="0"/>
              </a:rPr>
              <a:t> of the predictions is rarely addressed, reducing trust in automated systems for clinical use.</a:t>
            </a:r>
          </a:p>
        </p:txBody>
      </p:sp>
    </p:spTree>
    <p:extLst>
      <p:ext uri="{BB962C8B-B14F-4D97-AF65-F5344CB8AC3E}">
        <p14:creationId xmlns:p14="http://schemas.microsoft.com/office/powerpoint/2010/main" val="5306275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949208" y="359806"/>
            <a:ext cx="9720072" cy="770709"/>
          </a:xfrm>
        </p:spPr>
        <p:txBody>
          <a:bodyPr>
            <a:normAutofit fontScale="90000"/>
          </a:bodyPr>
          <a:lstStyle/>
          <a:p>
            <a:pPr lvl="2" algn="ctr">
              <a:lnSpc>
                <a:spcPct val="170000"/>
              </a:lnSpc>
            </a:pPr>
            <a:r>
              <a:rPr lang="en-US" sz="3000" u="sng" dirty="0">
                <a:latin typeface="Times New Roman" panose="02020603050405020304" pitchFamily="18" charset="0"/>
                <a:cs typeface="Times New Roman" panose="02020603050405020304" pitchFamily="18" charset="0"/>
              </a:rPr>
              <a:t>RESEARCH GAP ANALYSIS</a:t>
            </a:r>
            <a:br>
              <a:rPr lang="en-US" sz="3000" u="sng" dirty="0">
                <a:latin typeface="Times New Roman" panose="02020603050405020304" pitchFamily="18" charset="0"/>
                <a:cs typeface="Times New Roman" panose="02020603050405020304" pitchFamily="18" charset="0"/>
              </a:rPr>
            </a:br>
            <a:endParaRPr lang="en-US" sz="3000" u="sng" dirty="0">
              <a:latin typeface="Times New Roman" panose="02020603050405020304" pitchFamily="18" charset="0"/>
              <a:cs typeface="Times New Roman" panose="02020603050405020304" pitchFamily="18" charset="0"/>
            </a:endParaRPr>
          </a:p>
        </p:txBody>
      </p:sp>
      <p:sp>
        <p:nvSpPr>
          <p:cNvPr id="3" name="Rectangle 2"/>
          <p:cNvSpPr/>
          <p:nvPr/>
        </p:nvSpPr>
        <p:spPr>
          <a:xfrm>
            <a:off x="837816" y="1234690"/>
            <a:ext cx="11025051" cy="3782061"/>
          </a:xfrm>
          <a:prstGeom prst="rect">
            <a:avLst/>
          </a:prstGeom>
        </p:spPr>
        <p:txBody>
          <a:bodyPr wrap="square">
            <a:spAutoFit/>
          </a:bodyPr>
          <a:lstStyle/>
          <a:p>
            <a:pPr>
              <a:lnSpc>
                <a:spcPct val="150000"/>
              </a:lnSpc>
            </a:pPr>
            <a:r>
              <a:rPr lang="en-US" dirty="0">
                <a:latin typeface="Times New Roman" panose="02020603050405020304" pitchFamily="18" charset="0"/>
                <a:cs typeface="Times New Roman" panose="02020603050405020304" pitchFamily="18" charset="0"/>
              </a:rPr>
              <a:t>Our project addresses these gaps by combining CNN architectures (EfficientNet-B3, ResNet-50, , DenseNet-121) with attention-based Transformer models such as </a:t>
            </a:r>
            <a:r>
              <a:rPr lang="en-US" dirty="0" err="1">
                <a:latin typeface="Times New Roman" panose="02020603050405020304" pitchFamily="18" charset="0"/>
                <a:cs typeface="Times New Roman" panose="02020603050405020304" pitchFamily="18" charset="0"/>
              </a:rPr>
              <a:t>Swin</a:t>
            </a:r>
            <a:r>
              <a:rPr lang="en-US" dirty="0">
                <a:latin typeface="Times New Roman" panose="02020603050405020304" pitchFamily="18" charset="0"/>
                <a:cs typeface="Times New Roman" panose="02020603050405020304" pitchFamily="18" charset="0"/>
              </a:rPr>
              <a:t> Transformer and Vision Transformer. This hybrid approach captures both fine-grained local features and global contextual dependencies, improving multi-class Alzheimer’s stage classification. Moreover, the system is developed with a web-based interface using Flask, allowing users to upload MRI images and view predictions interactively. Preprocessing techniques such as resizing, normalization, and augmentation ensure high-quality input data for robust model performance.</a:t>
            </a:r>
          </a:p>
          <a:p>
            <a:pPr>
              <a:lnSpc>
                <a:spcPct val="150000"/>
              </a:lnSpc>
            </a:pPr>
            <a:r>
              <a:rPr lang="en-US" dirty="0">
                <a:latin typeface="Times New Roman" panose="02020603050405020304" pitchFamily="18" charset="0"/>
                <a:cs typeface="Times New Roman" panose="02020603050405020304" pitchFamily="18" charset="0"/>
              </a:rPr>
              <a:t>By addressing limitations in feature extraction, multi-stage classification, and usability, this project bridges a significant research gap in automated Alzheimer’s disease prediction, providing a more accurate, interpretable, and practical solution for medical imaging applications.</a:t>
            </a:r>
          </a:p>
        </p:txBody>
      </p:sp>
    </p:spTree>
    <p:extLst>
      <p:ext uri="{BB962C8B-B14F-4D97-AF65-F5344CB8AC3E}">
        <p14:creationId xmlns:p14="http://schemas.microsoft.com/office/powerpoint/2010/main" val="3630481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1141692" y="669472"/>
            <a:ext cx="9720072" cy="770709"/>
          </a:xfrm>
        </p:spPr>
        <p:txBody>
          <a:bodyPr>
            <a:normAutofit fontScale="90000"/>
          </a:bodyPr>
          <a:lstStyle/>
          <a:p>
            <a:pPr lvl="2" algn="ctr">
              <a:lnSpc>
                <a:spcPct val="170000"/>
              </a:lnSpc>
            </a:pPr>
            <a:r>
              <a:rPr lang="en-US" sz="3000" u="sng" dirty="0">
                <a:latin typeface="Times New Roman" panose="02020603050405020304" pitchFamily="18" charset="0"/>
                <a:cs typeface="Times New Roman" panose="02020603050405020304" pitchFamily="18" charset="0"/>
              </a:rPr>
              <a:t>LITERATURE SURVEY</a:t>
            </a:r>
            <a:br>
              <a:rPr lang="en-US" sz="3000" u="sng" dirty="0">
                <a:latin typeface="Times New Roman" panose="02020603050405020304" pitchFamily="18" charset="0"/>
                <a:cs typeface="Times New Roman" panose="02020603050405020304" pitchFamily="18" charset="0"/>
              </a:rPr>
            </a:br>
            <a:br>
              <a:rPr lang="en-US" sz="3000" u="sng" dirty="0">
                <a:latin typeface="Times New Roman" panose="02020603050405020304" pitchFamily="18" charset="0"/>
                <a:cs typeface="Times New Roman" panose="02020603050405020304" pitchFamily="18" charset="0"/>
              </a:rPr>
            </a:br>
            <a:endParaRPr lang="en-US" sz="3000" u="sng" dirty="0">
              <a:latin typeface="Times New Roman" panose="02020603050405020304" pitchFamily="18" charset="0"/>
              <a:cs typeface="Times New Roman" panose="02020603050405020304" pitchFamily="18" charset="0"/>
            </a:endParaRPr>
          </a:p>
        </p:txBody>
      </p:sp>
      <p:graphicFrame>
        <p:nvGraphicFramePr>
          <p:cNvPr id="3" name="Table 2">
            <a:extLst>
              <a:ext uri="{FF2B5EF4-FFF2-40B4-BE49-F238E27FC236}">
                <a16:creationId xmlns:a16="http://schemas.microsoft.com/office/drawing/2014/main" id="{C73C7299-A627-48C4-A5EF-1D8AE37B2A06}"/>
              </a:ext>
            </a:extLst>
          </p:cNvPr>
          <p:cNvGraphicFramePr>
            <a:graphicFrameLocks noGrp="1"/>
          </p:cNvGraphicFramePr>
          <p:nvPr>
            <p:extLst>
              <p:ext uri="{D42A27DB-BD31-4B8C-83A1-F6EECF244321}">
                <p14:modId xmlns:p14="http://schemas.microsoft.com/office/powerpoint/2010/main" val="790767835"/>
              </p:ext>
            </p:extLst>
          </p:nvPr>
        </p:nvGraphicFramePr>
        <p:xfrm>
          <a:off x="1034116" y="942640"/>
          <a:ext cx="10333132" cy="5551176"/>
        </p:xfrm>
        <a:graphic>
          <a:graphicData uri="http://schemas.openxmlformats.org/drawingml/2006/table">
            <a:tbl>
              <a:tblPr>
                <a:tableStyleId>{616DA210-FB5B-4158-B5E0-FEB733F419BA}</a:tableStyleId>
              </a:tblPr>
              <a:tblGrid>
                <a:gridCol w="2583283">
                  <a:extLst>
                    <a:ext uri="{9D8B030D-6E8A-4147-A177-3AD203B41FA5}">
                      <a16:colId xmlns:a16="http://schemas.microsoft.com/office/drawing/2014/main" val="3347360664"/>
                    </a:ext>
                  </a:extLst>
                </a:gridCol>
                <a:gridCol w="2583283">
                  <a:extLst>
                    <a:ext uri="{9D8B030D-6E8A-4147-A177-3AD203B41FA5}">
                      <a16:colId xmlns:a16="http://schemas.microsoft.com/office/drawing/2014/main" val="1005915733"/>
                    </a:ext>
                  </a:extLst>
                </a:gridCol>
                <a:gridCol w="2583283">
                  <a:extLst>
                    <a:ext uri="{9D8B030D-6E8A-4147-A177-3AD203B41FA5}">
                      <a16:colId xmlns:a16="http://schemas.microsoft.com/office/drawing/2014/main" val="2474047265"/>
                    </a:ext>
                  </a:extLst>
                </a:gridCol>
                <a:gridCol w="2583283">
                  <a:extLst>
                    <a:ext uri="{9D8B030D-6E8A-4147-A177-3AD203B41FA5}">
                      <a16:colId xmlns:a16="http://schemas.microsoft.com/office/drawing/2014/main" val="1103063185"/>
                    </a:ext>
                  </a:extLst>
                </a:gridCol>
              </a:tblGrid>
              <a:tr h="352278">
                <a:tc>
                  <a:txBody>
                    <a:bodyPr/>
                    <a:lstStyle/>
                    <a:p>
                      <a:pPr>
                        <a:lnSpc>
                          <a:spcPct val="150000"/>
                        </a:lnSpc>
                      </a:pPr>
                      <a:r>
                        <a:rPr lang="en-IN" sz="1400">
                          <a:latin typeface="Times New Roman" panose="02020603050405020304" pitchFamily="18" charset="0"/>
                          <a:cs typeface="Times New Roman" panose="02020603050405020304" pitchFamily="18" charset="0"/>
                        </a:rPr>
                        <a:t>Year</a:t>
                      </a:r>
                    </a:p>
                  </a:txBody>
                  <a:tcPr anchor="ctr"/>
                </a:tc>
                <a:tc>
                  <a:txBody>
                    <a:bodyPr/>
                    <a:lstStyle/>
                    <a:p>
                      <a:pPr>
                        <a:lnSpc>
                          <a:spcPct val="150000"/>
                        </a:lnSpc>
                      </a:pPr>
                      <a:r>
                        <a:rPr lang="en-IN" sz="1400">
                          <a:latin typeface="Times New Roman" panose="02020603050405020304" pitchFamily="18" charset="0"/>
                          <a:cs typeface="Times New Roman" panose="02020603050405020304" pitchFamily="18" charset="0"/>
                        </a:rPr>
                        <a:t>Author(s)</a:t>
                      </a:r>
                    </a:p>
                  </a:txBody>
                  <a:tcPr anchor="ctr"/>
                </a:tc>
                <a:tc>
                  <a:txBody>
                    <a:bodyPr/>
                    <a:lstStyle/>
                    <a:p>
                      <a:pPr>
                        <a:lnSpc>
                          <a:spcPct val="150000"/>
                        </a:lnSpc>
                      </a:pPr>
                      <a:r>
                        <a:rPr lang="en-IN" sz="1400">
                          <a:latin typeface="Times New Roman" panose="02020603050405020304" pitchFamily="18" charset="0"/>
                          <a:cs typeface="Times New Roman" panose="02020603050405020304" pitchFamily="18" charset="0"/>
                        </a:rPr>
                        <a:t>Title</a:t>
                      </a:r>
                    </a:p>
                  </a:txBody>
                  <a:tcPr anchor="ctr"/>
                </a:tc>
                <a:tc>
                  <a:txBody>
                    <a:bodyPr/>
                    <a:lstStyle/>
                    <a:p>
                      <a:pPr>
                        <a:lnSpc>
                          <a:spcPct val="150000"/>
                        </a:lnSpc>
                      </a:pPr>
                      <a:r>
                        <a:rPr lang="en-IN" sz="1400">
                          <a:latin typeface="Times New Roman" panose="02020603050405020304" pitchFamily="18" charset="0"/>
                          <a:cs typeface="Times New Roman" panose="02020603050405020304" pitchFamily="18" charset="0"/>
                        </a:rPr>
                        <a:t>Outcome</a:t>
                      </a:r>
                    </a:p>
                  </a:txBody>
                  <a:tcPr anchor="ctr"/>
                </a:tc>
                <a:extLst>
                  <a:ext uri="{0D108BD9-81ED-4DB2-BD59-A6C34878D82A}">
                    <a16:rowId xmlns:a16="http://schemas.microsoft.com/office/drawing/2014/main" val="3999300635"/>
                  </a:ext>
                </a:extLst>
              </a:tr>
              <a:tr h="1429838">
                <a:tc>
                  <a:txBody>
                    <a:bodyPr/>
                    <a:lstStyle/>
                    <a:p>
                      <a:pPr>
                        <a:lnSpc>
                          <a:spcPct val="150000"/>
                        </a:lnSpc>
                      </a:pPr>
                      <a:r>
                        <a:rPr lang="en-IN" sz="1400">
                          <a:latin typeface="Times New Roman" panose="02020603050405020304" pitchFamily="18" charset="0"/>
                          <a:cs typeface="Times New Roman" panose="02020603050405020304" pitchFamily="18" charset="0"/>
                        </a:rPr>
                        <a:t>2023</a:t>
                      </a:r>
                    </a:p>
                  </a:txBody>
                  <a:tcPr anchor="ctr"/>
                </a:tc>
                <a:tc>
                  <a:txBody>
                    <a:bodyPr/>
                    <a:lstStyle/>
                    <a:p>
                      <a:pPr>
                        <a:lnSpc>
                          <a:spcPct val="150000"/>
                        </a:lnSpc>
                      </a:pPr>
                      <a:r>
                        <a:rPr lang="en-IN" sz="1400">
                          <a:latin typeface="Times New Roman" panose="02020603050405020304" pitchFamily="18" charset="0"/>
                          <a:cs typeface="Times New Roman" panose="02020603050405020304" pitchFamily="18" charset="0"/>
                        </a:rPr>
                        <a:t>Zhang et al.</a:t>
                      </a:r>
                    </a:p>
                  </a:txBody>
                  <a:tcPr anchor="ctr"/>
                </a:tc>
                <a:tc>
                  <a:txBody>
                    <a:bodyPr/>
                    <a:lstStyle/>
                    <a:p>
                      <a:pPr>
                        <a:lnSpc>
                          <a:spcPct val="150000"/>
                        </a:lnSpc>
                      </a:pPr>
                      <a:r>
                        <a:rPr lang="en-IN" sz="1400">
                          <a:latin typeface="Times New Roman" panose="02020603050405020304" pitchFamily="18" charset="0"/>
                          <a:cs typeface="Times New Roman" panose="02020603050405020304" pitchFamily="18" charset="0"/>
                        </a:rPr>
                        <a:t>Hybrid CNN-Transformer for Alzheimer’s Classification</a:t>
                      </a:r>
                    </a:p>
                  </a:txBody>
                  <a:tcPr anchor="ctr"/>
                </a:tc>
                <a:tc>
                  <a:txBody>
                    <a:bodyPr/>
                    <a:lstStyle/>
                    <a:p>
                      <a:pPr>
                        <a:lnSpc>
                          <a:spcPct val="150000"/>
                        </a:lnSpc>
                      </a:pPr>
                      <a:r>
                        <a:rPr lang="en-US" sz="1400">
                          <a:latin typeface="Times New Roman" panose="02020603050405020304" pitchFamily="18" charset="0"/>
                          <a:cs typeface="Times New Roman" panose="02020603050405020304" pitchFamily="18" charset="0"/>
                        </a:rPr>
                        <a:t>Improved multi-class classification accuracy using combined CNN and Transformer features</a:t>
                      </a:r>
                    </a:p>
                  </a:txBody>
                  <a:tcPr anchor="ctr"/>
                </a:tc>
                <a:extLst>
                  <a:ext uri="{0D108BD9-81ED-4DB2-BD59-A6C34878D82A}">
                    <a16:rowId xmlns:a16="http://schemas.microsoft.com/office/drawing/2014/main" val="2187870571"/>
                  </a:ext>
                </a:extLst>
              </a:tr>
              <a:tr h="1207419">
                <a:tc>
                  <a:txBody>
                    <a:bodyPr/>
                    <a:lstStyle/>
                    <a:p>
                      <a:pPr>
                        <a:lnSpc>
                          <a:spcPct val="150000"/>
                        </a:lnSpc>
                      </a:pPr>
                      <a:r>
                        <a:rPr lang="en-IN" sz="1400">
                          <a:latin typeface="Times New Roman" panose="02020603050405020304" pitchFamily="18" charset="0"/>
                          <a:cs typeface="Times New Roman" panose="02020603050405020304" pitchFamily="18" charset="0"/>
                        </a:rPr>
                        <a:t>2022</a:t>
                      </a:r>
                    </a:p>
                  </a:txBody>
                  <a:tcPr anchor="ctr"/>
                </a:tc>
                <a:tc>
                  <a:txBody>
                    <a:bodyPr/>
                    <a:lstStyle/>
                    <a:p>
                      <a:pPr>
                        <a:lnSpc>
                          <a:spcPct val="150000"/>
                        </a:lnSpc>
                      </a:pPr>
                      <a:r>
                        <a:rPr lang="en-IN" sz="1400">
                          <a:latin typeface="Times New Roman" panose="02020603050405020304" pitchFamily="18" charset="0"/>
                          <a:cs typeface="Times New Roman" panose="02020603050405020304" pitchFamily="18" charset="0"/>
                        </a:rPr>
                        <a:t>Kumar et al.</a:t>
                      </a:r>
                    </a:p>
                  </a:txBody>
                  <a:tcPr anchor="ctr"/>
                </a:tc>
                <a:tc>
                  <a:txBody>
                    <a:bodyPr/>
                    <a:lstStyle/>
                    <a:p>
                      <a:pPr>
                        <a:lnSpc>
                          <a:spcPct val="150000"/>
                        </a:lnSpc>
                      </a:pPr>
                      <a:r>
                        <a:rPr lang="en-US" sz="1400">
                          <a:latin typeface="Times New Roman" panose="02020603050405020304" pitchFamily="18" charset="0"/>
                          <a:cs typeface="Times New Roman" panose="02020603050405020304" pitchFamily="18" charset="0"/>
                        </a:rPr>
                        <a:t>MRI-Based Alzheimer’s Detection Using EfficientNet</a:t>
                      </a:r>
                    </a:p>
                  </a:txBody>
                  <a:tcPr anchor="ctr"/>
                </a:tc>
                <a:tc>
                  <a:txBody>
                    <a:bodyPr/>
                    <a:lstStyle/>
                    <a:p>
                      <a:pPr>
                        <a:lnSpc>
                          <a:spcPct val="150000"/>
                        </a:lnSpc>
                      </a:pPr>
                      <a:r>
                        <a:rPr lang="en-US" sz="1400">
                          <a:latin typeface="Times New Roman" panose="02020603050405020304" pitchFamily="18" charset="0"/>
                          <a:cs typeface="Times New Roman" panose="02020603050405020304" pitchFamily="18" charset="0"/>
                        </a:rPr>
                        <a:t>Demonstrated robust feature extraction and high accuracy with EfficientNet on MRI datasets</a:t>
                      </a:r>
                    </a:p>
                  </a:txBody>
                  <a:tcPr anchor="ctr"/>
                </a:tc>
                <a:extLst>
                  <a:ext uri="{0D108BD9-81ED-4DB2-BD59-A6C34878D82A}">
                    <a16:rowId xmlns:a16="http://schemas.microsoft.com/office/drawing/2014/main" val="589295387"/>
                  </a:ext>
                </a:extLst>
              </a:tr>
              <a:tr h="1207419">
                <a:tc>
                  <a:txBody>
                    <a:bodyPr/>
                    <a:lstStyle/>
                    <a:p>
                      <a:pPr>
                        <a:lnSpc>
                          <a:spcPct val="150000"/>
                        </a:lnSpc>
                      </a:pPr>
                      <a:r>
                        <a:rPr lang="en-IN" sz="1400">
                          <a:latin typeface="Times New Roman" panose="02020603050405020304" pitchFamily="18" charset="0"/>
                          <a:cs typeface="Times New Roman" panose="02020603050405020304" pitchFamily="18" charset="0"/>
                        </a:rPr>
                        <a:t>2023</a:t>
                      </a:r>
                    </a:p>
                  </a:txBody>
                  <a:tcPr anchor="ctr"/>
                </a:tc>
                <a:tc>
                  <a:txBody>
                    <a:bodyPr/>
                    <a:lstStyle/>
                    <a:p>
                      <a:pPr>
                        <a:lnSpc>
                          <a:spcPct val="150000"/>
                        </a:lnSpc>
                      </a:pPr>
                      <a:r>
                        <a:rPr lang="en-IN" sz="1400">
                          <a:latin typeface="Times New Roman" panose="02020603050405020304" pitchFamily="18" charset="0"/>
                          <a:cs typeface="Times New Roman" panose="02020603050405020304" pitchFamily="18" charset="0"/>
                        </a:rPr>
                        <a:t>Li et al.</a:t>
                      </a:r>
                    </a:p>
                  </a:txBody>
                  <a:tcPr anchor="ctr"/>
                </a:tc>
                <a:tc>
                  <a:txBody>
                    <a:bodyPr/>
                    <a:lstStyle/>
                    <a:p>
                      <a:pPr>
                        <a:lnSpc>
                          <a:spcPct val="150000"/>
                        </a:lnSpc>
                      </a:pPr>
                      <a:r>
                        <a:rPr lang="en-IN" sz="1400">
                          <a:latin typeface="Times New Roman" panose="02020603050405020304" pitchFamily="18" charset="0"/>
                          <a:cs typeface="Times New Roman" panose="02020603050405020304" pitchFamily="18" charset="0"/>
                        </a:rPr>
                        <a:t>Vision Transformer for Brain Disease Prediction</a:t>
                      </a:r>
                    </a:p>
                  </a:txBody>
                  <a:tcPr anchor="ctr"/>
                </a:tc>
                <a:tc>
                  <a:txBody>
                    <a:bodyPr/>
                    <a:lstStyle/>
                    <a:p>
                      <a:pPr>
                        <a:lnSpc>
                          <a:spcPct val="150000"/>
                        </a:lnSpc>
                      </a:pPr>
                      <a:r>
                        <a:rPr lang="en-US" sz="1400">
                          <a:latin typeface="Times New Roman" panose="02020603050405020304" pitchFamily="18" charset="0"/>
                          <a:cs typeface="Times New Roman" panose="02020603050405020304" pitchFamily="18" charset="0"/>
                        </a:rPr>
                        <a:t>Showed that Transformers can capture global dependencies better than conventional CNNs</a:t>
                      </a:r>
                    </a:p>
                  </a:txBody>
                  <a:tcPr anchor="ctr"/>
                </a:tc>
                <a:extLst>
                  <a:ext uri="{0D108BD9-81ED-4DB2-BD59-A6C34878D82A}">
                    <a16:rowId xmlns:a16="http://schemas.microsoft.com/office/drawing/2014/main" val="1947548602"/>
                  </a:ext>
                </a:extLst>
              </a:tr>
              <a:tr h="1207419">
                <a:tc>
                  <a:txBody>
                    <a:bodyPr/>
                    <a:lstStyle/>
                    <a:p>
                      <a:pPr>
                        <a:lnSpc>
                          <a:spcPct val="150000"/>
                        </a:lnSpc>
                      </a:pPr>
                      <a:r>
                        <a:rPr lang="en-IN" sz="1400">
                          <a:latin typeface="Times New Roman" panose="02020603050405020304" pitchFamily="18" charset="0"/>
                          <a:cs typeface="Times New Roman" panose="02020603050405020304" pitchFamily="18" charset="0"/>
                        </a:rPr>
                        <a:t>2024</a:t>
                      </a:r>
                    </a:p>
                  </a:txBody>
                  <a:tcPr anchor="ctr"/>
                </a:tc>
                <a:tc>
                  <a:txBody>
                    <a:bodyPr/>
                    <a:lstStyle/>
                    <a:p>
                      <a:pPr>
                        <a:lnSpc>
                          <a:spcPct val="150000"/>
                        </a:lnSpc>
                      </a:pPr>
                      <a:r>
                        <a:rPr lang="en-IN" sz="1400">
                          <a:latin typeface="Times New Roman" panose="02020603050405020304" pitchFamily="18" charset="0"/>
                          <a:cs typeface="Times New Roman" panose="02020603050405020304" pitchFamily="18" charset="0"/>
                        </a:rPr>
                        <a:t>Sharma et al.</a:t>
                      </a:r>
                    </a:p>
                  </a:txBody>
                  <a:tcPr anchor="ctr"/>
                </a:tc>
                <a:tc>
                  <a:txBody>
                    <a:bodyPr/>
                    <a:lstStyle/>
                    <a:p>
                      <a:pPr>
                        <a:lnSpc>
                          <a:spcPct val="150000"/>
                        </a:lnSpc>
                      </a:pPr>
                      <a:r>
                        <a:rPr lang="en-US" sz="1400">
                          <a:latin typeface="Times New Roman" panose="02020603050405020304" pitchFamily="18" charset="0"/>
                          <a:cs typeface="Times New Roman" panose="02020603050405020304" pitchFamily="18" charset="0"/>
                        </a:rPr>
                        <a:t>Multi-Stage Alzheimer’s Detection Using DenseNet</a:t>
                      </a:r>
                    </a:p>
                  </a:txBody>
                  <a:tcPr anchor="ctr"/>
                </a:tc>
                <a:tc>
                  <a:txBody>
                    <a:bodyPr/>
                    <a:lstStyle/>
                    <a:p>
                      <a:pPr>
                        <a:lnSpc>
                          <a:spcPct val="150000"/>
                        </a:lnSpc>
                      </a:pPr>
                      <a:r>
                        <a:rPr lang="en-US" sz="1400" dirty="0">
                          <a:latin typeface="Times New Roman" panose="02020603050405020304" pitchFamily="18" charset="0"/>
                          <a:cs typeface="Times New Roman" panose="02020603050405020304" pitchFamily="18" charset="0"/>
                        </a:rPr>
                        <a:t>Achieved accurate classification across multiple stages and improved generalization</a:t>
                      </a:r>
                    </a:p>
                  </a:txBody>
                  <a:tcPr anchor="ctr"/>
                </a:tc>
                <a:extLst>
                  <a:ext uri="{0D108BD9-81ED-4DB2-BD59-A6C34878D82A}">
                    <a16:rowId xmlns:a16="http://schemas.microsoft.com/office/drawing/2014/main" val="15395855"/>
                  </a:ext>
                </a:extLst>
              </a:tr>
            </a:tbl>
          </a:graphicData>
        </a:graphic>
      </p:graphicFrame>
    </p:spTree>
    <p:extLst>
      <p:ext uri="{BB962C8B-B14F-4D97-AF65-F5344CB8AC3E}">
        <p14:creationId xmlns:p14="http://schemas.microsoft.com/office/powerpoint/2010/main" val="20096175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1233351" y="441237"/>
            <a:ext cx="9725297" cy="793567"/>
          </a:xfrm>
        </p:spPr>
        <p:txBody>
          <a:bodyPr>
            <a:normAutofit fontScale="90000"/>
          </a:bodyPr>
          <a:lstStyle/>
          <a:p>
            <a:pPr lvl="2" algn="ctr">
              <a:lnSpc>
                <a:spcPct val="170000"/>
              </a:lnSpc>
            </a:pPr>
            <a:r>
              <a:rPr lang="en-US" sz="3000" u="sng" dirty="0">
                <a:latin typeface="Times New Roman" panose="02020603050405020304" pitchFamily="18" charset="0"/>
                <a:cs typeface="Times New Roman" panose="02020603050405020304" pitchFamily="18" charset="0"/>
              </a:rPr>
              <a:t>IMPLEMENTATION</a:t>
            </a:r>
            <a:br>
              <a:rPr lang="en-US" sz="3000" u="sng" dirty="0">
                <a:latin typeface="Times New Roman" panose="02020603050405020304" pitchFamily="18" charset="0"/>
                <a:cs typeface="Times New Roman" panose="02020603050405020304" pitchFamily="18" charset="0"/>
              </a:rPr>
            </a:br>
            <a:br>
              <a:rPr lang="en-US" sz="3000" u="sng" dirty="0">
                <a:latin typeface="Times New Roman" panose="02020603050405020304" pitchFamily="18" charset="0"/>
                <a:cs typeface="Times New Roman" panose="02020603050405020304" pitchFamily="18" charset="0"/>
              </a:rPr>
            </a:br>
            <a:endParaRPr lang="en-US" sz="3000" u="sng" dirty="0">
              <a:latin typeface="Times New Roman" panose="02020603050405020304" pitchFamily="18" charset="0"/>
              <a:cs typeface="Times New Roman" panose="02020603050405020304" pitchFamily="18" charset="0"/>
            </a:endParaRPr>
          </a:p>
        </p:txBody>
      </p:sp>
      <p:sp>
        <p:nvSpPr>
          <p:cNvPr id="4" name="TextBox 3"/>
          <p:cNvSpPr txBox="1"/>
          <p:nvPr/>
        </p:nvSpPr>
        <p:spPr>
          <a:xfrm>
            <a:off x="842040" y="296764"/>
            <a:ext cx="2560320"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Algorithm Definitions:</a:t>
            </a:r>
            <a:endParaRPr lang="en-IN" dirty="0">
              <a:latin typeface="Times New Roman" panose="02020603050405020304" pitchFamily="18" charset="0"/>
              <a:cs typeface="Times New Roman" panose="02020603050405020304" pitchFamily="18" charset="0"/>
            </a:endParaRPr>
          </a:p>
        </p:txBody>
      </p:sp>
      <p:sp>
        <p:nvSpPr>
          <p:cNvPr id="15" name="Rectangle 14">
            <a:extLst>
              <a:ext uri="{FF2B5EF4-FFF2-40B4-BE49-F238E27FC236}">
                <a16:creationId xmlns:a16="http://schemas.microsoft.com/office/drawing/2014/main" id="{D0A03ABD-2CDF-4634-8266-28CE60CC1CCD}"/>
              </a:ext>
            </a:extLst>
          </p:cNvPr>
          <p:cNvSpPr/>
          <p:nvPr/>
        </p:nvSpPr>
        <p:spPr>
          <a:xfrm>
            <a:off x="842041" y="1733613"/>
            <a:ext cx="12555071" cy="458074"/>
          </a:xfrm>
          <a:prstGeom prst="rect">
            <a:avLst/>
          </a:prstGeom>
        </p:spPr>
        <p:txBody>
          <a:bodyPr wrap="square">
            <a:spAutoFit/>
          </a:bodyPr>
          <a:lstStyle/>
          <a:p>
            <a:pPr algn="just">
              <a:lnSpc>
                <a:spcPct val="150000"/>
              </a:lnSpc>
            </a:pPr>
            <a:endParaRPr lang="en-IN" dirty="0">
              <a:latin typeface="Times New Roman" panose="02020603050405020304" pitchFamily="18" charset="0"/>
              <a:cs typeface="Times New Roman" panose="02020603050405020304" pitchFamily="18" charset="0"/>
            </a:endParaRPr>
          </a:p>
        </p:txBody>
      </p:sp>
      <p:sp>
        <p:nvSpPr>
          <p:cNvPr id="16" name="Rectangle 15">
            <a:extLst>
              <a:ext uri="{FF2B5EF4-FFF2-40B4-BE49-F238E27FC236}">
                <a16:creationId xmlns:a16="http://schemas.microsoft.com/office/drawing/2014/main" id="{0988991A-8D96-47E9-A7C2-2A0374E7571F}"/>
              </a:ext>
            </a:extLst>
          </p:cNvPr>
          <p:cNvSpPr/>
          <p:nvPr/>
        </p:nvSpPr>
        <p:spPr>
          <a:xfrm>
            <a:off x="914400" y="666096"/>
            <a:ext cx="9251576" cy="6275051"/>
          </a:xfrm>
          <a:prstGeom prst="rect">
            <a:avLst/>
          </a:prstGeom>
        </p:spPr>
        <p:txBody>
          <a:bodyPr wrap="square">
            <a:spAutoFit/>
          </a:bodyPr>
          <a:lstStyle/>
          <a:p>
            <a:pPr>
              <a:lnSpc>
                <a:spcPct val="150000"/>
              </a:lnSpc>
            </a:pPr>
            <a:r>
              <a:rPr lang="en-US" b="1" dirty="0">
                <a:latin typeface="Times New Roman" panose="02020603050405020304" pitchFamily="18" charset="0"/>
                <a:cs typeface="Times New Roman" panose="02020603050405020304" pitchFamily="18" charset="0"/>
              </a:rPr>
              <a:t>1. EfficientNet-B3 + </a:t>
            </a:r>
            <a:r>
              <a:rPr lang="en-US" b="1" dirty="0" err="1">
                <a:latin typeface="Times New Roman" panose="02020603050405020304" pitchFamily="18" charset="0"/>
                <a:cs typeface="Times New Roman" panose="02020603050405020304" pitchFamily="18" charset="0"/>
              </a:rPr>
              <a:t>Swin</a:t>
            </a:r>
            <a:r>
              <a:rPr lang="en-US" b="1" dirty="0">
                <a:latin typeface="Times New Roman" panose="02020603050405020304" pitchFamily="18" charset="0"/>
                <a:cs typeface="Times New Roman" panose="02020603050405020304" pitchFamily="18" charset="0"/>
              </a:rPr>
              <a:t> Transformer</a:t>
            </a:r>
          </a:p>
          <a:p>
            <a:pPr>
              <a:lnSpc>
                <a:spcPct val="150000"/>
              </a:lnSpc>
            </a:pPr>
            <a:r>
              <a:rPr lang="en-US" dirty="0">
                <a:latin typeface="Times New Roman" panose="02020603050405020304" pitchFamily="18" charset="0"/>
                <a:cs typeface="Times New Roman" panose="02020603050405020304" pitchFamily="18" charset="0"/>
              </a:rPr>
              <a:t>This hybrid model first uses </a:t>
            </a:r>
            <a:r>
              <a:rPr lang="en-US" b="1" dirty="0">
                <a:latin typeface="Times New Roman" panose="02020603050405020304" pitchFamily="18" charset="0"/>
                <a:cs typeface="Times New Roman" panose="02020603050405020304" pitchFamily="18" charset="0"/>
              </a:rPr>
              <a:t>EfficientNet-B3</a:t>
            </a:r>
            <a:r>
              <a:rPr lang="en-US" dirty="0">
                <a:latin typeface="Times New Roman" panose="02020603050405020304" pitchFamily="18" charset="0"/>
                <a:cs typeface="Times New Roman" panose="02020603050405020304" pitchFamily="18" charset="0"/>
              </a:rPr>
              <a:t> to extract local features from MRI images efficiently using </a:t>
            </a:r>
            <a:r>
              <a:rPr lang="en-US" dirty="0" err="1">
                <a:latin typeface="Times New Roman" panose="02020603050405020304" pitchFamily="18" charset="0"/>
                <a:cs typeface="Times New Roman" panose="02020603050405020304" pitchFamily="18" charset="0"/>
              </a:rPr>
              <a:t>depthwise</a:t>
            </a:r>
            <a:r>
              <a:rPr lang="en-US" dirty="0">
                <a:latin typeface="Times New Roman" panose="02020603050405020304" pitchFamily="18" charset="0"/>
                <a:cs typeface="Times New Roman" panose="02020603050405020304" pitchFamily="18" charset="0"/>
              </a:rPr>
              <a:t> separable convolutions.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The extracted feature maps are passed to the </a:t>
            </a:r>
            <a:r>
              <a:rPr lang="en-US" b="1" dirty="0" err="1">
                <a:latin typeface="Times New Roman" panose="02020603050405020304" pitchFamily="18" charset="0"/>
                <a:cs typeface="Times New Roman" panose="02020603050405020304" pitchFamily="18" charset="0"/>
              </a:rPr>
              <a:t>Swin</a:t>
            </a:r>
            <a:r>
              <a:rPr lang="en-US" b="1" dirty="0">
                <a:latin typeface="Times New Roman" panose="02020603050405020304" pitchFamily="18" charset="0"/>
                <a:cs typeface="Times New Roman" panose="02020603050405020304" pitchFamily="18" charset="0"/>
              </a:rPr>
              <a:t> Transformer</a:t>
            </a:r>
            <a:r>
              <a:rPr lang="en-US" dirty="0">
                <a:latin typeface="Times New Roman" panose="02020603050405020304" pitchFamily="18" charset="0"/>
                <a:cs typeface="Times New Roman" panose="02020603050405020304" pitchFamily="18" charset="0"/>
              </a:rPr>
              <a:t>, which captures global contextual dependencies using shifted window-based attention.</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Finally, a classification head predicts the Alzheimer’s disease stage.</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The combination improves accuracy by leveraging both local and global representations.</a:t>
            </a:r>
          </a:p>
          <a:p>
            <a:pPr>
              <a:lnSpc>
                <a:spcPct val="150000"/>
              </a:lnSpc>
            </a:pPr>
            <a:endParaRPr lang="en-US" dirty="0">
              <a:latin typeface="Times New Roman" panose="02020603050405020304" pitchFamily="18" charset="0"/>
              <a:cs typeface="Times New Roman" panose="02020603050405020304" pitchFamily="18" charset="0"/>
            </a:endParaRPr>
          </a:p>
          <a:p>
            <a:pPr>
              <a:lnSpc>
                <a:spcPct val="150000"/>
              </a:lnSpc>
            </a:pPr>
            <a:r>
              <a:rPr lang="en-IN" b="1" dirty="0">
                <a:latin typeface="Times New Roman" panose="02020603050405020304" pitchFamily="18" charset="0"/>
                <a:cs typeface="Times New Roman" panose="02020603050405020304" pitchFamily="18" charset="0"/>
              </a:rPr>
              <a:t>2. ResNet-50 + </a:t>
            </a:r>
            <a:r>
              <a:rPr lang="en-IN" b="1" dirty="0" err="1">
                <a:latin typeface="Times New Roman" panose="02020603050405020304" pitchFamily="18" charset="0"/>
                <a:cs typeface="Times New Roman" panose="02020603050405020304" pitchFamily="18" charset="0"/>
              </a:rPr>
              <a:t>Swin</a:t>
            </a:r>
            <a:r>
              <a:rPr lang="en-IN" b="1" dirty="0">
                <a:latin typeface="Times New Roman" panose="02020603050405020304" pitchFamily="18" charset="0"/>
                <a:cs typeface="Times New Roman" panose="02020603050405020304" pitchFamily="18" charset="0"/>
              </a:rPr>
              <a:t> Transformer</a:t>
            </a:r>
          </a:p>
          <a:p>
            <a:pPr>
              <a:lnSpc>
                <a:spcPct val="150000"/>
              </a:lnSpc>
            </a:pPr>
            <a:r>
              <a:rPr lang="en-IN" dirty="0">
                <a:latin typeface="Times New Roman" panose="02020603050405020304" pitchFamily="18" charset="0"/>
                <a:cs typeface="Times New Roman" panose="02020603050405020304" pitchFamily="18" charset="0"/>
              </a:rPr>
              <a:t>The </a:t>
            </a:r>
            <a:r>
              <a:rPr lang="en-IN" b="1" dirty="0">
                <a:latin typeface="Times New Roman" panose="02020603050405020304" pitchFamily="18" charset="0"/>
                <a:cs typeface="Times New Roman" panose="02020603050405020304" pitchFamily="18" charset="0"/>
              </a:rPr>
              <a:t>ResNet-50</a:t>
            </a:r>
            <a:r>
              <a:rPr lang="en-IN" dirty="0">
                <a:latin typeface="Times New Roman" panose="02020603050405020304" pitchFamily="18" charset="0"/>
                <a:cs typeface="Times New Roman" panose="02020603050405020304" pitchFamily="18" charset="0"/>
              </a:rPr>
              <a:t> backbone extracts hierarchical features from MRI images using residual connections to prevent vanishing gradients.</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The </a:t>
            </a:r>
            <a:r>
              <a:rPr lang="en-IN" b="1" dirty="0" err="1">
                <a:latin typeface="Times New Roman" panose="02020603050405020304" pitchFamily="18" charset="0"/>
                <a:cs typeface="Times New Roman" panose="02020603050405020304" pitchFamily="18" charset="0"/>
              </a:rPr>
              <a:t>Swin</a:t>
            </a:r>
            <a:r>
              <a:rPr lang="en-IN" b="1" dirty="0">
                <a:latin typeface="Times New Roman" panose="02020603050405020304" pitchFamily="18" charset="0"/>
                <a:cs typeface="Times New Roman" panose="02020603050405020304" pitchFamily="18" charset="0"/>
              </a:rPr>
              <a:t> Transformer</a:t>
            </a:r>
            <a:r>
              <a:rPr lang="en-IN" dirty="0">
                <a:latin typeface="Times New Roman" panose="02020603050405020304" pitchFamily="18" charset="0"/>
                <a:cs typeface="Times New Roman" panose="02020603050405020304" pitchFamily="18" charset="0"/>
              </a:rPr>
              <a:t> then models long-range dependencies across feature maps.</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A fully connected layer outputs predictions for Alzheimer’s stages.</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This hybrid model enhances feature richness and stability for multi-class classification.</a:t>
            </a:r>
          </a:p>
          <a:p>
            <a:pPr>
              <a:lnSpc>
                <a:spcPct val="150000"/>
              </a:lnSpc>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69481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1233351" y="441237"/>
            <a:ext cx="9725297" cy="793567"/>
          </a:xfrm>
        </p:spPr>
        <p:txBody>
          <a:bodyPr>
            <a:normAutofit fontScale="90000"/>
          </a:bodyPr>
          <a:lstStyle/>
          <a:p>
            <a:pPr lvl="2" algn="ctr">
              <a:lnSpc>
                <a:spcPct val="170000"/>
              </a:lnSpc>
            </a:pPr>
            <a:r>
              <a:rPr lang="en-US" sz="3000" u="sng" dirty="0">
                <a:latin typeface="Times New Roman" panose="02020603050405020304" pitchFamily="18" charset="0"/>
                <a:cs typeface="Times New Roman" panose="02020603050405020304" pitchFamily="18" charset="0"/>
              </a:rPr>
              <a:t>IMPLEMENTATION</a:t>
            </a:r>
            <a:br>
              <a:rPr lang="en-US" sz="3000" u="sng" dirty="0">
                <a:latin typeface="Times New Roman" panose="02020603050405020304" pitchFamily="18" charset="0"/>
                <a:cs typeface="Times New Roman" panose="02020603050405020304" pitchFamily="18" charset="0"/>
              </a:rPr>
            </a:br>
            <a:br>
              <a:rPr lang="en-US" sz="3000" u="sng" dirty="0">
                <a:latin typeface="Times New Roman" panose="02020603050405020304" pitchFamily="18" charset="0"/>
                <a:cs typeface="Times New Roman" panose="02020603050405020304" pitchFamily="18" charset="0"/>
              </a:rPr>
            </a:br>
            <a:endParaRPr lang="en-US" sz="3000" u="sng" dirty="0">
              <a:latin typeface="Times New Roman" panose="02020603050405020304" pitchFamily="18" charset="0"/>
              <a:cs typeface="Times New Roman" panose="02020603050405020304" pitchFamily="18" charset="0"/>
            </a:endParaRPr>
          </a:p>
        </p:txBody>
      </p:sp>
      <p:sp>
        <p:nvSpPr>
          <p:cNvPr id="4" name="TextBox 3"/>
          <p:cNvSpPr txBox="1"/>
          <p:nvPr/>
        </p:nvSpPr>
        <p:spPr>
          <a:xfrm>
            <a:off x="842040" y="699218"/>
            <a:ext cx="2560320"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Algorithm Definitions:</a:t>
            </a:r>
            <a:endParaRPr lang="en-IN" dirty="0">
              <a:latin typeface="Times New Roman" panose="02020603050405020304" pitchFamily="18" charset="0"/>
              <a:cs typeface="Times New Roman" panose="02020603050405020304" pitchFamily="18" charset="0"/>
            </a:endParaRPr>
          </a:p>
        </p:txBody>
      </p:sp>
      <p:sp>
        <p:nvSpPr>
          <p:cNvPr id="15" name="Rectangle 14">
            <a:extLst>
              <a:ext uri="{FF2B5EF4-FFF2-40B4-BE49-F238E27FC236}">
                <a16:creationId xmlns:a16="http://schemas.microsoft.com/office/drawing/2014/main" id="{D0A03ABD-2CDF-4634-8266-28CE60CC1CCD}"/>
              </a:ext>
            </a:extLst>
          </p:cNvPr>
          <p:cNvSpPr/>
          <p:nvPr/>
        </p:nvSpPr>
        <p:spPr>
          <a:xfrm>
            <a:off x="842041" y="1733613"/>
            <a:ext cx="12555071" cy="458074"/>
          </a:xfrm>
          <a:prstGeom prst="rect">
            <a:avLst/>
          </a:prstGeom>
        </p:spPr>
        <p:txBody>
          <a:bodyPr wrap="square">
            <a:spAutoFit/>
          </a:bodyPr>
          <a:lstStyle/>
          <a:p>
            <a:pPr algn="just">
              <a:lnSpc>
                <a:spcPct val="150000"/>
              </a:lnSpc>
            </a:pPr>
            <a:endParaRPr lang="en-IN" dirty="0">
              <a:latin typeface="Times New Roman" panose="02020603050405020304" pitchFamily="18" charset="0"/>
              <a:cs typeface="Times New Roman" panose="02020603050405020304" pitchFamily="18" charset="0"/>
            </a:endParaRPr>
          </a:p>
        </p:txBody>
      </p:sp>
      <p:sp>
        <p:nvSpPr>
          <p:cNvPr id="16" name="Rectangle 15">
            <a:extLst>
              <a:ext uri="{FF2B5EF4-FFF2-40B4-BE49-F238E27FC236}">
                <a16:creationId xmlns:a16="http://schemas.microsoft.com/office/drawing/2014/main" id="{0988991A-8D96-47E9-A7C2-2A0374E7571F}"/>
              </a:ext>
            </a:extLst>
          </p:cNvPr>
          <p:cNvSpPr/>
          <p:nvPr/>
        </p:nvSpPr>
        <p:spPr>
          <a:xfrm>
            <a:off x="842040" y="1198027"/>
            <a:ext cx="10847294" cy="2633413"/>
          </a:xfrm>
          <a:prstGeom prst="rect">
            <a:avLst/>
          </a:prstGeom>
        </p:spPr>
        <p:txBody>
          <a:bodyPr wrap="square">
            <a:spAutoFit/>
          </a:bodyPr>
          <a:lstStyle/>
          <a:p>
            <a:pPr>
              <a:lnSpc>
                <a:spcPct val="150000"/>
              </a:lnSpc>
            </a:pPr>
            <a:endParaRPr lang="en-US" sz="1600" dirty="0">
              <a:latin typeface="Times New Roman" panose="02020603050405020304" pitchFamily="18" charset="0"/>
              <a:cs typeface="Times New Roman" panose="02020603050405020304" pitchFamily="18" charset="0"/>
            </a:endParaRPr>
          </a:p>
          <a:p>
            <a:pPr>
              <a:lnSpc>
                <a:spcPct val="150000"/>
              </a:lnSpc>
            </a:pPr>
            <a:r>
              <a:rPr lang="en-US" sz="1600" b="1" dirty="0">
                <a:latin typeface="Times New Roman" panose="02020603050405020304" pitchFamily="18" charset="0"/>
                <a:cs typeface="Times New Roman" panose="02020603050405020304" pitchFamily="18" charset="0"/>
              </a:rPr>
              <a:t>3. DenseNet-121 + Transformer Encoder</a:t>
            </a:r>
          </a:p>
          <a:p>
            <a:pPr>
              <a:lnSpc>
                <a:spcPct val="150000"/>
              </a:lnSpc>
            </a:pPr>
            <a:r>
              <a:rPr lang="en-US" sz="1600" b="1" dirty="0">
                <a:latin typeface="Times New Roman" panose="02020603050405020304" pitchFamily="18" charset="0"/>
                <a:cs typeface="Times New Roman" panose="02020603050405020304" pitchFamily="18" charset="0"/>
              </a:rPr>
              <a:t>DenseNet-121</a:t>
            </a:r>
            <a:r>
              <a:rPr lang="en-US" sz="1600" dirty="0">
                <a:latin typeface="Times New Roman" panose="02020603050405020304" pitchFamily="18" charset="0"/>
                <a:cs typeface="Times New Roman" panose="02020603050405020304" pitchFamily="18" charset="0"/>
              </a:rPr>
              <a:t> extracts features while maintaining efficient connectivity between layers to reuse feature maps.</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The output feature maps are passed to a </a:t>
            </a:r>
            <a:r>
              <a:rPr lang="en-US" sz="1600" b="1" dirty="0">
                <a:latin typeface="Times New Roman" panose="02020603050405020304" pitchFamily="18" charset="0"/>
                <a:cs typeface="Times New Roman" panose="02020603050405020304" pitchFamily="18" charset="0"/>
              </a:rPr>
              <a:t>Transformer Encoder</a:t>
            </a:r>
            <a:r>
              <a:rPr lang="en-US" sz="1600" dirty="0">
                <a:latin typeface="Times New Roman" panose="02020603050405020304" pitchFamily="18" charset="0"/>
                <a:cs typeface="Times New Roman" panose="02020603050405020304" pitchFamily="18" charset="0"/>
              </a:rPr>
              <a:t>, which models relationships between different brain regions.</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The encoder output is fed to a classification layer for Alzheimer’s stage prediction.</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This model emphasizes feature reuse and long-range dependency modeling.</a:t>
            </a:r>
          </a:p>
          <a:p>
            <a:pPr>
              <a:lnSpc>
                <a:spcPct val="150000"/>
              </a:lnSpc>
            </a:pPr>
            <a:endParaRPr 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783685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91E65D4-90EC-4AAA-9908-54982A1090AB}"/>
              </a:ext>
            </a:extLst>
          </p:cNvPr>
          <p:cNvSpPr/>
          <p:nvPr/>
        </p:nvSpPr>
        <p:spPr>
          <a:xfrm>
            <a:off x="797858" y="582949"/>
            <a:ext cx="10936941" cy="6275051"/>
          </a:xfrm>
          <a:prstGeom prst="rect">
            <a:avLst/>
          </a:prstGeom>
        </p:spPr>
        <p:txBody>
          <a:bodyPr wrap="square">
            <a:spAutoFit/>
          </a:bodyPr>
          <a:lstStyle/>
          <a:p>
            <a:pPr lvl="0" algn="just" defTabSz="914400" eaLnBrk="0" fontAlgn="base" hangingPunct="0">
              <a:lnSpc>
                <a:spcPct val="150000"/>
              </a:lnSpc>
              <a:spcBef>
                <a:spcPct val="0"/>
              </a:spcBef>
              <a:spcAft>
                <a:spcPct val="0"/>
              </a:spcAft>
              <a:buFontTx/>
              <a:buChar char="•"/>
            </a:pPr>
            <a:r>
              <a:rPr lang="en-US" altLang="en-US" b="1" dirty="0">
                <a:latin typeface="Times New Roman" panose="02020603050405020304" pitchFamily="18" charset="0"/>
                <a:cs typeface="Times New Roman" panose="02020603050405020304" pitchFamily="18" charset="0"/>
              </a:rPr>
              <a:t>Dataset Collection</a:t>
            </a:r>
            <a:endParaRPr lang="en-US" altLang="en-US" dirty="0">
              <a:latin typeface="Times New Roman" panose="02020603050405020304" pitchFamily="18" charset="0"/>
              <a:cs typeface="Times New Roman" panose="02020603050405020304" pitchFamily="18" charset="0"/>
            </a:endParaRPr>
          </a:p>
          <a:p>
            <a:pPr lvl="0" algn="just" defTabSz="914400" eaLnBrk="0" fontAlgn="base" hangingPunct="0">
              <a:lnSpc>
                <a:spcPct val="150000"/>
              </a:lnSpc>
              <a:spcBef>
                <a:spcPct val="0"/>
              </a:spcBef>
              <a:spcAft>
                <a:spcPct val="0"/>
              </a:spcAft>
              <a:buFontTx/>
              <a:buChar char="•"/>
            </a:pPr>
            <a:r>
              <a:rPr lang="en-US" altLang="en-US" dirty="0">
                <a:latin typeface="Times New Roman" panose="02020603050405020304" pitchFamily="18" charset="0"/>
                <a:cs typeface="Times New Roman" panose="02020603050405020304" pitchFamily="18" charset="0"/>
              </a:rPr>
              <a:t>MRI images categorized into: No Impairment, Very Mild, Mild, Moderate, Irrelevant.</a:t>
            </a:r>
          </a:p>
          <a:p>
            <a:pPr lvl="0" algn="just" defTabSz="914400" eaLnBrk="0" fontAlgn="base" hangingPunct="0">
              <a:lnSpc>
                <a:spcPct val="150000"/>
              </a:lnSpc>
              <a:spcBef>
                <a:spcPct val="0"/>
              </a:spcBef>
              <a:spcAft>
                <a:spcPct val="0"/>
              </a:spcAft>
              <a:buFontTx/>
              <a:buChar char="•"/>
            </a:pPr>
            <a:r>
              <a:rPr lang="en-US" altLang="en-US" dirty="0">
                <a:latin typeface="Times New Roman" panose="02020603050405020304" pitchFamily="18" charset="0"/>
                <a:cs typeface="Times New Roman" panose="02020603050405020304" pitchFamily="18" charset="0"/>
              </a:rPr>
              <a:t>Images collected and organized for preprocessing.</a:t>
            </a:r>
          </a:p>
          <a:p>
            <a:pPr lvl="0" algn="just" defTabSz="914400" eaLnBrk="0" fontAlgn="base" hangingPunct="0">
              <a:lnSpc>
                <a:spcPct val="150000"/>
              </a:lnSpc>
              <a:spcBef>
                <a:spcPct val="0"/>
              </a:spcBef>
              <a:spcAft>
                <a:spcPct val="0"/>
              </a:spcAft>
              <a:buFontTx/>
              <a:buChar char="•"/>
            </a:pPr>
            <a:r>
              <a:rPr lang="en-US" altLang="en-US" b="1" dirty="0">
                <a:latin typeface="Times New Roman" panose="02020603050405020304" pitchFamily="18" charset="0"/>
                <a:cs typeface="Times New Roman" panose="02020603050405020304" pitchFamily="18" charset="0"/>
              </a:rPr>
              <a:t>Data Preprocessing</a:t>
            </a:r>
            <a:endParaRPr lang="en-US" altLang="en-US" dirty="0">
              <a:latin typeface="Times New Roman" panose="02020603050405020304" pitchFamily="18" charset="0"/>
              <a:cs typeface="Times New Roman" panose="02020603050405020304" pitchFamily="18" charset="0"/>
            </a:endParaRPr>
          </a:p>
          <a:p>
            <a:pPr lvl="0" algn="just" defTabSz="914400" eaLnBrk="0" fontAlgn="base" hangingPunct="0">
              <a:lnSpc>
                <a:spcPct val="150000"/>
              </a:lnSpc>
              <a:spcBef>
                <a:spcPct val="0"/>
              </a:spcBef>
              <a:spcAft>
                <a:spcPct val="0"/>
              </a:spcAft>
              <a:buFontTx/>
              <a:buChar char="•"/>
            </a:pPr>
            <a:r>
              <a:rPr lang="en-US" altLang="en-US" dirty="0">
                <a:latin typeface="Times New Roman" panose="02020603050405020304" pitchFamily="18" charset="0"/>
                <a:cs typeface="Times New Roman" panose="02020603050405020304" pitchFamily="18" charset="0"/>
              </a:rPr>
              <a:t>Resize images to uniform dimensions.</a:t>
            </a:r>
          </a:p>
          <a:p>
            <a:pPr lvl="0" algn="just" defTabSz="914400" eaLnBrk="0" fontAlgn="base" hangingPunct="0">
              <a:lnSpc>
                <a:spcPct val="150000"/>
              </a:lnSpc>
              <a:spcBef>
                <a:spcPct val="0"/>
              </a:spcBef>
              <a:spcAft>
                <a:spcPct val="0"/>
              </a:spcAft>
              <a:buFontTx/>
              <a:buChar char="•"/>
            </a:pPr>
            <a:r>
              <a:rPr lang="en-US" altLang="en-US" dirty="0">
                <a:latin typeface="Times New Roman" panose="02020603050405020304" pitchFamily="18" charset="0"/>
                <a:cs typeface="Times New Roman" panose="02020603050405020304" pitchFamily="18" charset="0"/>
              </a:rPr>
              <a:t>Normalize pixel values for consistency.</a:t>
            </a:r>
          </a:p>
          <a:p>
            <a:pPr lvl="0" algn="just" defTabSz="914400" eaLnBrk="0" fontAlgn="base" hangingPunct="0">
              <a:lnSpc>
                <a:spcPct val="150000"/>
              </a:lnSpc>
              <a:spcBef>
                <a:spcPct val="0"/>
              </a:spcBef>
              <a:spcAft>
                <a:spcPct val="0"/>
              </a:spcAft>
              <a:buFontTx/>
              <a:buChar char="•"/>
            </a:pPr>
            <a:r>
              <a:rPr lang="en-US" altLang="en-US" dirty="0">
                <a:latin typeface="Times New Roman" panose="02020603050405020304" pitchFamily="18" charset="0"/>
                <a:cs typeface="Times New Roman" panose="02020603050405020304" pitchFamily="18" charset="0"/>
              </a:rPr>
              <a:t>Apply data augmentation (rotation, flipping, scaling) to improve model robustness.</a:t>
            </a:r>
          </a:p>
          <a:p>
            <a:pPr lvl="0" algn="just" defTabSz="914400" eaLnBrk="0" fontAlgn="base" hangingPunct="0">
              <a:lnSpc>
                <a:spcPct val="150000"/>
              </a:lnSpc>
              <a:spcBef>
                <a:spcPct val="0"/>
              </a:spcBef>
              <a:spcAft>
                <a:spcPct val="0"/>
              </a:spcAft>
              <a:buFontTx/>
              <a:buChar char="•"/>
            </a:pPr>
            <a:r>
              <a:rPr lang="en-US" altLang="en-US" b="1" dirty="0">
                <a:latin typeface="Times New Roman" panose="02020603050405020304" pitchFamily="18" charset="0"/>
                <a:cs typeface="Times New Roman" panose="02020603050405020304" pitchFamily="18" charset="0"/>
              </a:rPr>
              <a:t>Model Selection &amp; Training</a:t>
            </a:r>
            <a:endParaRPr lang="en-US" altLang="en-US" dirty="0">
              <a:latin typeface="Times New Roman" panose="02020603050405020304" pitchFamily="18" charset="0"/>
              <a:cs typeface="Times New Roman" panose="02020603050405020304" pitchFamily="18" charset="0"/>
            </a:endParaRPr>
          </a:p>
          <a:p>
            <a:pPr lvl="0" algn="just" defTabSz="914400" eaLnBrk="0" fontAlgn="base" hangingPunct="0">
              <a:lnSpc>
                <a:spcPct val="150000"/>
              </a:lnSpc>
              <a:spcBef>
                <a:spcPct val="0"/>
              </a:spcBef>
              <a:spcAft>
                <a:spcPct val="0"/>
              </a:spcAft>
              <a:buFontTx/>
              <a:buChar char="•"/>
            </a:pPr>
            <a:r>
              <a:rPr lang="en-US" altLang="en-US" dirty="0">
                <a:latin typeface="Times New Roman" panose="02020603050405020304" pitchFamily="18" charset="0"/>
                <a:cs typeface="Times New Roman" panose="02020603050405020304" pitchFamily="18" charset="0"/>
              </a:rPr>
              <a:t>Four hybrid models used:</a:t>
            </a:r>
          </a:p>
          <a:p>
            <a:pPr lvl="1" algn="just" defTabSz="914400" eaLnBrk="0" fontAlgn="base" hangingPunct="0">
              <a:lnSpc>
                <a:spcPct val="150000"/>
              </a:lnSpc>
              <a:spcBef>
                <a:spcPct val="0"/>
              </a:spcBef>
              <a:spcAft>
                <a:spcPct val="0"/>
              </a:spcAft>
              <a:buFontTx/>
              <a:buAutoNum type="arabicPeriod"/>
            </a:pPr>
            <a:r>
              <a:rPr lang="en-US" altLang="en-US" dirty="0">
                <a:latin typeface="Times New Roman" panose="02020603050405020304" pitchFamily="18" charset="0"/>
                <a:cs typeface="Times New Roman" panose="02020603050405020304" pitchFamily="18" charset="0"/>
              </a:rPr>
              <a:t>EfficientNet-B3 + </a:t>
            </a:r>
            <a:r>
              <a:rPr lang="en-US" altLang="en-US" dirty="0" err="1">
                <a:latin typeface="Times New Roman" panose="02020603050405020304" pitchFamily="18" charset="0"/>
                <a:cs typeface="Times New Roman" panose="02020603050405020304" pitchFamily="18" charset="0"/>
              </a:rPr>
              <a:t>Swin</a:t>
            </a:r>
            <a:r>
              <a:rPr lang="en-US" altLang="en-US" dirty="0">
                <a:latin typeface="Times New Roman" panose="02020603050405020304" pitchFamily="18" charset="0"/>
                <a:cs typeface="Times New Roman" panose="02020603050405020304" pitchFamily="18" charset="0"/>
              </a:rPr>
              <a:t> Transformer</a:t>
            </a:r>
          </a:p>
          <a:p>
            <a:pPr lvl="1" algn="just" defTabSz="914400" eaLnBrk="0" fontAlgn="base" hangingPunct="0">
              <a:lnSpc>
                <a:spcPct val="150000"/>
              </a:lnSpc>
              <a:spcBef>
                <a:spcPct val="0"/>
              </a:spcBef>
              <a:spcAft>
                <a:spcPct val="0"/>
              </a:spcAft>
              <a:buFontTx/>
              <a:buAutoNum type="arabicPeriod" startAt="2"/>
            </a:pPr>
            <a:r>
              <a:rPr lang="en-US" altLang="en-US" dirty="0">
                <a:latin typeface="Times New Roman" panose="02020603050405020304" pitchFamily="18" charset="0"/>
                <a:cs typeface="Times New Roman" panose="02020603050405020304" pitchFamily="18" charset="0"/>
              </a:rPr>
              <a:t>ResNet-50 + </a:t>
            </a:r>
            <a:r>
              <a:rPr lang="en-US" altLang="en-US" dirty="0" err="1">
                <a:latin typeface="Times New Roman" panose="02020603050405020304" pitchFamily="18" charset="0"/>
                <a:cs typeface="Times New Roman" panose="02020603050405020304" pitchFamily="18" charset="0"/>
              </a:rPr>
              <a:t>Swin</a:t>
            </a:r>
            <a:r>
              <a:rPr lang="en-US" altLang="en-US" dirty="0">
                <a:latin typeface="Times New Roman" panose="02020603050405020304" pitchFamily="18" charset="0"/>
                <a:cs typeface="Times New Roman" panose="02020603050405020304" pitchFamily="18" charset="0"/>
              </a:rPr>
              <a:t> Transformer</a:t>
            </a:r>
          </a:p>
          <a:p>
            <a:pPr lvl="1" algn="just" defTabSz="914400" eaLnBrk="0" fontAlgn="base" hangingPunct="0">
              <a:lnSpc>
                <a:spcPct val="150000"/>
              </a:lnSpc>
              <a:spcBef>
                <a:spcPct val="0"/>
              </a:spcBef>
              <a:spcAft>
                <a:spcPct val="0"/>
              </a:spcAft>
              <a:buFontTx/>
              <a:buAutoNum type="arabicPeriod" startAt="3"/>
            </a:pPr>
            <a:r>
              <a:rPr lang="en-US" altLang="en-US" dirty="0">
                <a:latin typeface="Times New Roman" panose="02020603050405020304" pitchFamily="18" charset="0"/>
                <a:cs typeface="Times New Roman" panose="02020603050405020304" pitchFamily="18" charset="0"/>
              </a:rPr>
              <a:t> + Vision Transformer (</a:t>
            </a:r>
            <a:r>
              <a:rPr lang="en-US" altLang="en-US" dirty="0" err="1">
                <a:latin typeface="Times New Roman" panose="02020603050405020304" pitchFamily="18" charset="0"/>
                <a:cs typeface="Times New Roman" panose="02020603050405020304" pitchFamily="18" charset="0"/>
              </a:rPr>
              <a:t>ViT</a:t>
            </a:r>
            <a:r>
              <a:rPr lang="en-US" altLang="en-US" dirty="0">
                <a:latin typeface="Times New Roman" panose="02020603050405020304" pitchFamily="18" charset="0"/>
                <a:cs typeface="Times New Roman" panose="02020603050405020304" pitchFamily="18" charset="0"/>
              </a:rPr>
              <a:t>) Fusion</a:t>
            </a:r>
          </a:p>
          <a:p>
            <a:pPr lvl="1" algn="just" defTabSz="914400" eaLnBrk="0" fontAlgn="base" hangingPunct="0">
              <a:lnSpc>
                <a:spcPct val="150000"/>
              </a:lnSpc>
              <a:spcBef>
                <a:spcPct val="0"/>
              </a:spcBef>
              <a:spcAft>
                <a:spcPct val="0"/>
              </a:spcAft>
              <a:buFontTx/>
              <a:buAutoNum type="arabicPeriod" startAt="4"/>
            </a:pPr>
            <a:r>
              <a:rPr lang="en-US" altLang="en-US" dirty="0">
                <a:latin typeface="Times New Roman" panose="02020603050405020304" pitchFamily="18" charset="0"/>
                <a:cs typeface="Times New Roman" panose="02020603050405020304" pitchFamily="18" charset="0"/>
              </a:rPr>
              <a:t>DenseNet-121 + Transformer Encoder</a:t>
            </a:r>
          </a:p>
          <a:p>
            <a:pPr lvl="0" algn="just" defTabSz="914400" eaLnBrk="0" fontAlgn="base" hangingPunct="0">
              <a:lnSpc>
                <a:spcPct val="150000"/>
              </a:lnSpc>
              <a:spcBef>
                <a:spcPct val="0"/>
              </a:spcBef>
              <a:spcAft>
                <a:spcPct val="0"/>
              </a:spcAft>
              <a:buFontTx/>
              <a:buChar char="•"/>
            </a:pPr>
            <a:r>
              <a:rPr lang="en-US" altLang="en-US" dirty="0">
                <a:latin typeface="Times New Roman" panose="02020603050405020304" pitchFamily="18" charset="0"/>
                <a:cs typeface="Times New Roman" panose="02020603050405020304" pitchFamily="18" charset="0"/>
              </a:rPr>
              <a:t>Models trained on preprocessed MRI images to classify Alzheimer’s stages.</a:t>
            </a:r>
          </a:p>
          <a:p>
            <a:pPr lvl="0" algn="just" defTabSz="914400" eaLnBrk="0" fontAlgn="base" hangingPunct="0">
              <a:lnSpc>
                <a:spcPct val="150000"/>
              </a:lnSpc>
              <a:spcBef>
                <a:spcPct val="0"/>
              </a:spcBef>
              <a:spcAft>
                <a:spcPct val="0"/>
              </a:spcAft>
            </a:pPr>
            <a:endParaRPr lang="en-US"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487061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FC00FAA-0223-4BE5-9D68-0F20FDBF1B11}"/>
              </a:ext>
            </a:extLst>
          </p:cNvPr>
          <p:cNvSpPr>
            <a:spLocks noChangeArrowheads="1"/>
          </p:cNvSpPr>
          <p:nvPr/>
        </p:nvSpPr>
        <p:spPr bwMode="auto">
          <a:xfrm>
            <a:off x="959223" y="923449"/>
            <a:ext cx="9108141" cy="41975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Feature Extraction &amp; Classification</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CNN backbones extract local features.</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Transformer modules capture global dependencies.</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Fully connected layers output multi-class predictions.</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Evaluation Metrics</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Accuracy, Precision, Recall, F1-score computed on test data.</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Web-based Deployment</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Flask framework used for backend.</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HTML, CSS, JS for front-end UI.</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Users can register, login, upload MRI images, and view predictions.</a:t>
            </a:r>
          </a:p>
        </p:txBody>
      </p:sp>
    </p:spTree>
    <p:extLst>
      <p:ext uri="{BB962C8B-B14F-4D97-AF65-F5344CB8AC3E}">
        <p14:creationId xmlns:p14="http://schemas.microsoft.com/office/powerpoint/2010/main" val="22555466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961887" y="-251012"/>
            <a:ext cx="9720072" cy="770709"/>
          </a:xfrm>
        </p:spPr>
        <p:txBody>
          <a:bodyPr>
            <a:normAutofit/>
          </a:bodyPr>
          <a:lstStyle/>
          <a:p>
            <a:pPr lvl="2" algn="ctr">
              <a:lnSpc>
                <a:spcPct val="170000"/>
              </a:lnSpc>
            </a:pPr>
            <a:r>
              <a:rPr lang="en-US" sz="3000" u="sng" dirty="0">
                <a:latin typeface="Times New Roman" panose="02020603050405020304" pitchFamily="18" charset="0"/>
                <a:cs typeface="Times New Roman" panose="02020603050405020304" pitchFamily="18" charset="0"/>
              </a:rPr>
              <a:t>REFERENCES</a:t>
            </a:r>
          </a:p>
        </p:txBody>
      </p:sp>
      <p:sp>
        <p:nvSpPr>
          <p:cNvPr id="8" name="Rectangle 7"/>
          <p:cNvSpPr/>
          <p:nvPr/>
        </p:nvSpPr>
        <p:spPr>
          <a:xfrm>
            <a:off x="750217" y="643538"/>
            <a:ext cx="11086012" cy="5588068"/>
          </a:xfrm>
          <a:prstGeom prst="rect">
            <a:avLst/>
          </a:prstGeom>
        </p:spPr>
        <p:txBody>
          <a:bodyPr wrap="square">
            <a:spAutoFit/>
          </a:bodyPr>
          <a:lstStyle/>
          <a:p>
            <a:pPr lvl="0" algn="just">
              <a:lnSpc>
                <a:spcPct val="150000"/>
              </a:lnSpc>
            </a:pPr>
            <a:r>
              <a:rPr lang="en-US" sz="1600" dirty="0">
                <a:latin typeface="Times New Roman" panose="02020603050405020304" pitchFamily="18" charset="0"/>
                <a:cs typeface="Times New Roman" panose="02020603050405020304" pitchFamily="18" charset="0"/>
              </a:rPr>
              <a:t>Huang, Y., &amp; Li, W. (2023). Resizer </a:t>
            </a:r>
            <a:r>
              <a:rPr lang="en-US" sz="1600" dirty="0" err="1">
                <a:latin typeface="Times New Roman" panose="02020603050405020304" pitchFamily="18" charset="0"/>
                <a:cs typeface="Times New Roman" panose="02020603050405020304" pitchFamily="18" charset="0"/>
              </a:rPr>
              <a:t>Swin</a:t>
            </a:r>
            <a:r>
              <a:rPr lang="en-US" sz="1600" dirty="0">
                <a:latin typeface="Times New Roman" panose="02020603050405020304" pitchFamily="18" charset="0"/>
                <a:cs typeface="Times New Roman" panose="02020603050405020304" pitchFamily="18" charset="0"/>
              </a:rPr>
              <a:t> Transformer‑Based Classification Using </a:t>
            </a:r>
            <a:r>
              <a:rPr lang="en-US" sz="1600" dirty="0" err="1">
                <a:latin typeface="Times New Roman" panose="02020603050405020304" pitchFamily="18" charset="0"/>
                <a:cs typeface="Times New Roman" panose="02020603050405020304" pitchFamily="18" charset="0"/>
              </a:rPr>
              <a:t>sMRI</a:t>
            </a:r>
            <a:r>
              <a:rPr lang="en-US" sz="1600" dirty="0">
                <a:latin typeface="Times New Roman" panose="02020603050405020304" pitchFamily="18" charset="0"/>
                <a:cs typeface="Times New Roman" panose="02020603050405020304" pitchFamily="18" charset="0"/>
              </a:rPr>
              <a:t> for Alzheimer’s Disease. </a:t>
            </a:r>
            <a:r>
              <a:rPr lang="en-US" sz="1600" i="1" dirty="0">
                <a:latin typeface="Times New Roman" panose="02020603050405020304" pitchFamily="18" charset="0"/>
                <a:cs typeface="Times New Roman" panose="02020603050405020304" pitchFamily="18" charset="0"/>
              </a:rPr>
              <a:t>Applied Sciences, 13</a:t>
            </a:r>
            <a:r>
              <a:rPr lang="en-US" sz="1600" dirty="0">
                <a:latin typeface="Times New Roman" panose="02020603050405020304" pitchFamily="18" charset="0"/>
                <a:cs typeface="Times New Roman" panose="02020603050405020304" pitchFamily="18" charset="0"/>
              </a:rPr>
              <a:t>(16), 9310. </a:t>
            </a:r>
            <a:r>
              <a:rPr lang="en-US" sz="1600" u="sng" dirty="0">
                <a:latin typeface="Times New Roman" panose="02020603050405020304" pitchFamily="18" charset="0"/>
                <a:cs typeface="Times New Roman" panose="02020603050405020304" pitchFamily="18" charset="0"/>
                <a:hlinkClick r:id="rId2"/>
              </a:rPr>
              <a:t>https://doi.org/10.3390/app13169310</a:t>
            </a:r>
            <a:r>
              <a:rPr lang="en-US" sz="1600" dirty="0">
                <a:latin typeface="Times New Roman" panose="02020603050405020304" pitchFamily="18" charset="0"/>
                <a:cs typeface="Times New Roman" panose="02020603050405020304" pitchFamily="18" charset="0"/>
              </a:rPr>
              <a:t> (</a:t>
            </a:r>
            <a:r>
              <a:rPr lang="en-US" sz="1600" u="sng" dirty="0">
                <a:latin typeface="Times New Roman" panose="02020603050405020304" pitchFamily="18" charset="0"/>
                <a:cs typeface="Times New Roman" panose="02020603050405020304" pitchFamily="18" charset="0"/>
                <a:hlinkClick r:id="rId3" tooltip="Resizer Swin Transformer-Based Classification Using sMRI for Alzheimer’s Disease"/>
              </a:rPr>
              <a:t>MDPI</a:t>
            </a:r>
            <a:r>
              <a:rPr lang="en-US" sz="1600" dirty="0">
                <a:latin typeface="Times New Roman" panose="02020603050405020304" pitchFamily="18" charset="0"/>
                <a:cs typeface="Times New Roman" panose="02020603050405020304" pitchFamily="18" charset="0"/>
              </a:rPr>
              <a:t>)</a:t>
            </a:r>
            <a:endParaRPr lang="en-IN" sz="1600" dirty="0">
              <a:latin typeface="Times New Roman" panose="02020603050405020304" pitchFamily="18" charset="0"/>
              <a:cs typeface="Times New Roman" panose="02020603050405020304" pitchFamily="18" charset="0"/>
            </a:endParaRPr>
          </a:p>
          <a:p>
            <a:pPr lvl="0" algn="just">
              <a:lnSpc>
                <a:spcPct val="150000"/>
              </a:lnSpc>
            </a:pPr>
            <a:r>
              <a:rPr lang="en-US" sz="1600" dirty="0">
                <a:latin typeface="Times New Roman" panose="02020603050405020304" pitchFamily="18" charset="0"/>
                <a:cs typeface="Times New Roman" panose="02020603050405020304" pitchFamily="18" charset="0"/>
              </a:rPr>
              <a:t>Jiaming Xin, </a:t>
            </a:r>
            <a:r>
              <a:rPr lang="en-US" sz="1600" dirty="0" err="1">
                <a:latin typeface="Times New Roman" panose="02020603050405020304" pitchFamily="18" charset="0"/>
                <a:cs typeface="Times New Roman" panose="02020603050405020304" pitchFamily="18" charset="0"/>
              </a:rPr>
              <a:t>Ancong</a:t>
            </a:r>
            <a:r>
              <a:rPr lang="en-US" sz="1600" dirty="0">
                <a:latin typeface="Times New Roman" panose="02020603050405020304" pitchFamily="18" charset="0"/>
                <a:cs typeface="Times New Roman" panose="02020603050405020304" pitchFamily="18" charset="0"/>
              </a:rPr>
              <a:t> Wang, Rui Guo, </a:t>
            </a:r>
            <a:r>
              <a:rPr lang="en-US" sz="1600" dirty="0" err="1">
                <a:latin typeface="Times New Roman" panose="02020603050405020304" pitchFamily="18" charset="0"/>
                <a:cs typeface="Times New Roman" panose="02020603050405020304" pitchFamily="18" charset="0"/>
              </a:rPr>
              <a:t>Weifeng</a:t>
            </a:r>
            <a:r>
              <a:rPr lang="en-US" sz="1600" dirty="0">
                <a:latin typeface="Times New Roman" panose="02020603050405020304" pitchFamily="18" charset="0"/>
                <a:cs typeface="Times New Roman" panose="02020603050405020304" pitchFamily="18" charset="0"/>
              </a:rPr>
              <a:t> Liu, &amp; </a:t>
            </a:r>
            <a:r>
              <a:rPr lang="en-US" sz="1600" dirty="0" err="1">
                <a:latin typeface="Times New Roman" panose="02020603050405020304" pitchFamily="18" charset="0"/>
                <a:cs typeface="Times New Roman" panose="02020603050405020304" pitchFamily="18" charset="0"/>
              </a:rPr>
              <a:t>Xiaoying</a:t>
            </a:r>
            <a:r>
              <a:rPr lang="en-US" sz="1600" dirty="0">
                <a:latin typeface="Times New Roman" panose="02020603050405020304" pitchFamily="18" charset="0"/>
                <a:cs typeface="Times New Roman" panose="02020603050405020304" pitchFamily="18" charset="0"/>
              </a:rPr>
              <a:t> Tang. (2023). CNN and </a:t>
            </a:r>
            <a:r>
              <a:rPr lang="en-US" sz="1600" dirty="0" err="1">
                <a:latin typeface="Times New Roman" panose="02020603050405020304" pitchFamily="18" charset="0"/>
                <a:cs typeface="Times New Roman" panose="02020603050405020304" pitchFamily="18" charset="0"/>
              </a:rPr>
              <a:t>Swin</a:t>
            </a:r>
            <a:r>
              <a:rPr lang="en-US" sz="1600" dirty="0">
                <a:latin typeface="Times New Roman" panose="02020603050405020304" pitchFamily="18" charset="0"/>
                <a:cs typeface="Times New Roman" panose="02020603050405020304" pitchFamily="18" charset="0"/>
              </a:rPr>
              <a:t>‑Transformer based efficient model for Alzheimer’s disease diagnosis with </a:t>
            </a:r>
            <a:r>
              <a:rPr lang="en-US" sz="1600" dirty="0" err="1">
                <a:latin typeface="Times New Roman" panose="02020603050405020304" pitchFamily="18" charset="0"/>
                <a:cs typeface="Times New Roman" panose="02020603050405020304" pitchFamily="18" charset="0"/>
              </a:rPr>
              <a:t>sMRI</a:t>
            </a:r>
            <a:r>
              <a:rPr lang="en-US" sz="1600" dirty="0">
                <a:latin typeface="Times New Roman" panose="02020603050405020304" pitchFamily="18" charset="0"/>
                <a:cs typeface="Times New Roman" panose="02020603050405020304" pitchFamily="18" charset="0"/>
              </a:rPr>
              <a:t>. </a:t>
            </a:r>
            <a:r>
              <a:rPr lang="en-US" sz="1600" i="1" dirty="0">
                <a:latin typeface="Times New Roman" panose="02020603050405020304" pitchFamily="18" charset="0"/>
                <a:cs typeface="Times New Roman" panose="02020603050405020304" pitchFamily="18" charset="0"/>
              </a:rPr>
              <a:t>Biomedical Signal Processing and Control, 86</a:t>
            </a:r>
            <a:r>
              <a:rPr lang="en-US" sz="1600" dirty="0">
                <a:latin typeface="Times New Roman" panose="02020603050405020304" pitchFamily="18" charset="0"/>
                <a:cs typeface="Times New Roman" panose="02020603050405020304" pitchFamily="18" charset="0"/>
              </a:rPr>
              <a:t>, 105189. </a:t>
            </a:r>
            <a:r>
              <a:rPr lang="en-US" sz="1600" u="sng" dirty="0">
                <a:latin typeface="Times New Roman" panose="02020603050405020304" pitchFamily="18" charset="0"/>
                <a:cs typeface="Times New Roman" panose="02020603050405020304" pitchFamily="18" charset="0"/>
                <a:hlinkClick r:id="rId4"/>
              </a:rPr>
              <a:t>https://doi.org/10.1016/j.bspc.2023.105189</a:t>
            </a:r>
            <a:r>
              <a:rPr lang="en-US" sz="1600" dirty="0">
                <a:latin typeface="Times New Roman" panose="02020603050405020304" pitchFamily="18" charset="0"/>
                <a:cs typeface="Times New Roman" panose="02020603050405020304" pitchFamily="18" charset="0"/>
              </a:rPr>
              <a:t> (</a:t>
            </a:r>
            <a:r>
              <a:rPr lang="en-US" sz="1600" u="sng" dirty="0">
                <a:latin typeface="Times New Roman" panose="02020603050405020304" pitchFamily="18" charset="0"/>
                <a:cs typeface="Times New Roman" panose="02020603050405020304" pitchFamily="18" charset="0"/>
                <a:hlinkClick r:id="rId5" tooltip="CNN and swin-transformer based efficient model for Alzheimer's disease diagnosis with sMRI - Beijing Institute of Technology"/>
              </a:rPr>
              <a:t>Beijing Institute of Technology</a:t>
            </a:r>
            <a:r>
              <a:rPr lang="en-US" sz="1600" dirty="0">
                <a:latin typeface="Times New Roman" panose="02020603050405020304" pitchFamily="18" charset="0"/>
                <a:cs typeface="Times New Roman" panose="02020603050405020304" pitchFamily="18" charset="0"/>
              </a:rPr>
              <a:t>)</a:t>
            </a:r>
            <a:endParaRPr lang="en-IN" sz="1600" dirty="0">
              <a:latin typeface="Times New Roman" panose="02020603050405020304" pitchFamily="18" charset="0"/>
              <a:cs typeface="Times New Roman" panose="02020603050405020304" pitchFamily="18" charset="0"/>
            </a:endParaRPr>
          </a:p>
          <a:p>
            <a:pPr lvl="0" algn="just">
              <a:lnSpc>
                <a:spcPct val="150000"/>
              </a:lnSpc>
            </a:pPr>
            <a:r>
              <a:rPr lang="en-US" sz="1600" dirty="0">
                <a:latin typeface="Times New Roman" panose="02020603050405020304" pitchFamily="18" charset="0"/>
                <a:cs typeface="Times New Roman" panose="02020603050405020304" pitchFamily="18" charset="0"/>
              </a:rPr>
              <a:t>Abhishek Tiwari, Ananya Singhal, Saurabh J. </a:t>
            </a:r>
            <a:r>
              <a:rPr lang="en-US" sz="1600" dirty="0" err="1">
                <a:latin typeface="Times New Roman" panose="02020603050405020304" pitchFamily="18" charset="0"/>
                <a:cs typeface="Times New Roman" panose="02020603050405020304" pitchFamily="18" charset="0"/>
              </a:rPr>
              <a:t>Shigwan</a:t>
            </a:r>
            <a:r>
              <a:rPr lang="en-US" sz="1600" dirty="0">
                <a:latin typeface="Times New Roman" panose="02020603050405020304" pitchFamily="18" charset="0"/>
                <a:cs typeface="Times New Roman" panose="02020603050405020304" pitchFamily="18" charset="0"/>
              </a:rPr>
              <a:t>, &amp; Rajeev Kumar Singh. (2024). Early Diagnosis of Alzheimer through </a:t>
            </a:r>
            <a:r>
              <a:rPr lang="en-US" sz="1600" dirty="0" err="1">
                <a:latin typeface="Times New Roman" panose="02020603050405020304" pitchFamily="18" charset="0"/>
                <a:cs typeface="Times New Roman" panose="02020603050405020304" pitchFamily="18" charset="0"/>
              </a:rPr>
              <a:t>Swin</a:t>
            </a:r>
            <a:r>
              <a:rPr lang="en-US" sz="1600" dirty="0">
                <a:latin typeface="Times New Roman" panose="02020603050405020304" pitchFamily="18" charset="0"/>
                <a:cs typeface="Times New Roman" panose="02020603050405020304" pitchFamily="18" charset="0"/>
              </a:rPr>
              <a:t>‑Transformer‑Based Deep Learning Framework using Sparse Diffusion Measures. </a:t>
            </a:r>
            <a:r>
              <a:rPr lang="en-US" sz="1600" i="1" dirty="0">
                <a:latin typeface="Times New Roman" panose="02020603050405020304" pitchFamily="18" charset="0"/>
                <a:cs typeface="Times New Roman" panose="02020603050405020304" pitchFamily="18" charset="0"/>
              </a:rPr>
              <a:t>Proceedings of the 15th Asian Conference on Machine Learning (PMLR 222:1369–1384)</a:t>
            </a:r>
            <a:r>
              <a:rPr lang="en-US" sz="1600" dirty="0">
                <a:latin typeface="Times New Roman" panose="02020603050405020304" pitchFamily="18" charset="0"/>
                <a:cs typeface="Times New Roman" panose="02020603050405020304" pitchFamily="18" charset="0"/>
              </a:rPr>
              <a:t>. </a:t>
            </a:r>
            <a:r>
              <a:rPr lang="en-US" sz="1600" u="sng" dirty="0">
                <a:latin typeface="Times New Roman" panose="02020603050405020304" pitchFamily="18" charset="0"/>
                <a:cs typeface="Times New Roman" panose="02020603050405020304" pitchFamily="18" charset="0"/>
                <a:hlinkClick r:id="rId6"/>
              </a:rPr>
              <a:t>https://proceedings.mlr.press/v222/tiwari24a.html</a:t>
            </a:r>
            <a:r>
              <a:rPr lang="en-US" sz="1600" dirty="0">
                <a:latin typeface="Times New Roman" panose="02020603050405020304" pitchFamily="18" charset="0"/>
                <a:cs typeface="Times New Roman" panose="02020603050405020304" pitchFamily="18" charset="0"/>
              </a:rPr>
              <a:t> (</a:t>
            </a:r>
            <a:r>
              <a:rPr lang="en-US" sz="1600" u="sng" dirty="0">
                <a:latin typeface="Times New Roman" panose="02020603050405020304" pitchFamily="18" charset="0"/>
                <a:cs typeface="Times New Roman" panose="02020603050405020304" pitchFamily="18" charset="0"/>
                <a:hlinkClick r:id="rId7" tooltip="Early Diagnosis of Alzheimer through Swin-Transformer-Based Deep Learning Framework using Sparse Diffusion Measures"/>
              </a:rPr>
              <a:t>Proceedings of Machine Learning Research</a:t>
            </a:r>
            <a:r>
              <a:rPr lang="en-US" sz="1600" dirty="0">
                <a:latin typeface="Times New Roman" panose="02020603050405020304" pitchFamily="18" charset="0"/>
                <a:cs typeface="Times New Roman" panose="02020603050405020304" pitchFamily="18" charset="0"/>
              </a:rPr>
              <a:t>)</a:t>
            </a:r>
            <a:endParaRPr lang="en-IN" sz="1600" dirty="0">
              <a:latin typeface="Times New Roman" panose="02020603050405020304" pitchFamily="18" charset="0"/>
              <a:cs typeface="Times New Roman" panose="02020603050405020304" pitchFamily="18" charset="0"/>
            </a:endParaRPr>
          </a:p>
          <a:p>
            <a:pPr lvl="0" algn="just">
              <a:lnSpc>
                <a:spcPct val="150000"/>
              </a:lnSpc>
            </a:pPr>
            <a:r>
              <a:rPr lang="en-US" sz="1600" dirty="0" err="1">
                <a:latin typeface="Times New Roman" panose="02020603050405020304" pitchFamily="18" charset="0"/>
                <a:cs typeface="Times New Roman" panose="02020603050405020304" pitchFamily="18" charset="0"/>
              </a:rPr>
              <a:t>Yanlei</a:t>
            </a:r>
            <a:r>
              <a:rPr lang="en-US" sz="1600" dirty="0">
                <a:latin typeface="Times New Roman" panose="02020603050405020304" pitchFamily="18" charset="0"/>
                <a:cs typeface="Times New Roman" panose="02020603050405020304" pitchFamily="18" charset="0"/>
              </a:rPr>
              <a:t> Wang, Hui Sheng, &amp; </a:t>
            </a:r>
            <a:r>
              <a:rPr lang="en-US" sz="1600" dirty="0" err="1">
                <a:latin typeface="Times New Roman" panose="02020603050405020304" pitchFamily="18" charset="0"/>
                <a:cs typeface="Times New Roman" panose="02020603050405020304" pitchFamily="18" charset="0"/>
              </a:rPr>
              <a:t>Xueling</a:t>
            </a:r>
            <a:r>
              <a:rPr lang="en-US" sz="1600" dirty="0">
                <a:latin typeface="Times New Roman" panose="02020603050405020304" pitchFamily="18" charset="0"/>
                <a:cs typeface="Times New Roman" panose="02020603050405020304" pitchFamily="18" charset="0"/>
              </a:rPr>
              <a:t> Wang. (2025). Recognition and diagnosis of Alzheimer’s Disease using T1‑weighted magnetic resonance imaging via integrating CNN and </a:t>
            </a:r>
            <a:r>
              <a:rPr lang="en-US" sz="1600" dirty="0" err="1">
                <a:latin typeface="Times New Roman" panose="02020603050405020304" pitchFamily="18" charset="0"/>
                <a:cs typeface="Times New Roman" panose="02020603050405020304" pitchFamily="18" charset="0"/>
              </a:rPr>
              <a:t>Swin</a:t>
            </a:r>
            <a:r>
              <a:rPr lang="en-US" sz="1600" dirty="0">
                <a:latin typeface="Times New Roman" panose="02020603050405020304" pitchFamily="18" charset="0"/>
                <a:cs typeface="Times New Roman" panose="02020603050405020304" pitchFamily="18" charset="0"/>
              </a:rPr>
              <a:t> vision transformer. </a:t>
            </a:r>
            <a:r>
              <a:rPr lang="en-US" sz="1600" i="1" dirty="0">
                <a:latin typeface="Times New Roman" panose="02020603050405020304" pitchFamily="18" charset="0"/>
                <a:cs typeface="Times New Roman" panose="02020603050405020304" pitchFamily="18" charset="0"/>
              </a:rPr>
              <a:t>Clinics (Sao Paulo), 80</a:t>
            </a:r>
            <a:r>
              <a:rPr lang="en-US" sz="1600" dirty="0">
                <a:latin typeface="Times New Roman" panose="02020603050405020304" pitchFamily="18" charset="0"/>
                <a:cs typeface="Times New Roman" panose="02020603050405020304" pitchFamily="18" charset="0"/>
              </a:rPr>
              <a:t>, 100673. </a:t>
            </a:r>
            <a:r>
              <a:rPr lang="en-US" sz="1600" u="sng" dirty="0">
                <a:latin typeface="Times New Roman" panose="02020603050405020304" pitchFamily="18" charset="0"/>
                <a:cs typeface="Times New Roman" panose="02020603050405020304" pitchFamily="18" charset="0"/>
                <a:hlinkClick r:id="rId8"/>
              </a:rPr>
              <a:t>https://doi.org/10.1016/j.clinsp.2025.100673</a:t>
            </a:r>
            <a:r>
              <a:rPr lang="en-US" sz="1600" dirty="0">
                <a:latin typeface="Times New Roman" panose="02020603050405020304" pitchFamily="18" charset="0"/>
                <a:cs typeface="Times New Roman" panose="02020603050405020304" pitchFamily="18" charset="0"/>
              </a:rPr>
              <a:t> (</a:t>
            </a:r>
            <a:r>
              <a:rPr lang="en-US" sz="1600" u="sng" dirty="0">
                <a:latin typeface="Times New Roman" panose="02020603050405020304" pitchFamily="18" charset="0"/>
                <a:cs typeface="Times New Roman" panose="02020603050405020304" pitchFamily="18" charset="0"/>
                <a:hlinkClick r:id="rId9" tooltip="Recognition and diagnosis of Alzheimer's Disease using T1-weighted magnetic resonance imaging via integrating CNN and Swin vision transformer. | Radiology AI Research Hub"/>
              </a:rPr>
              <a:t>X-ray Interpreter</a:t>
            </a:r>
            <a:r>
              <a:rPr lang="en-US" sz="1600" dirty="0">
                <a:latin typeface="Times New Roman" panose="02020603050405020304" pitchFamily="18" charset="0"/>
                <a:cs typeface="Times New Roman" panose="02020603050405020304" pitchFamily="18" charset="0"/>
              </a:rPr>
              <a:t>)</a:t>
            </a:r>
            <a:endParaRPr lang="en-IN" sz="1600" dirty="0">
              <a:latin typeface="Times New Roman" panose="02020603050405020304" pitchFamily="18" charset="0"/>
              <a:cs typeface="Times New Roman" panose="02020603050405020304" pitchFamily="18" charset="0"/>
            </a:endParaRPr>
          </a:p>
          <a:p>
            <a:pPr lvl="0" algn="just">
              <a:lnSpc>
                <a:spcPct val="150000"/>
              </a:lnSpc>
            </a:pPr>
            <a:r>
              <a:rPr lang="en-US" sz="1600" dirty="0">
                <a:latin typeface="Times New Roman" panose="02020603050405020304" pitchFamily="18" charset="0"/>
                <a:cs typeface="Times New Roman" panose="02020603050405020304" pitchFamily="18" charset="0"/>
              </a:rPr>
              <a:t>Hassan </a:t>
            </a:r>
            <a:r>
              <a:rPr lang="en-US" sz="1600" dirty="0" err="1">
                <a:latin typeface="Times New Roman" panose="02020603050405020304" pitchFamily="18" charset="0"/>
                <a:cs typeface="Times New Roman" panose="02020603050405020304" pitchFamily="18" charset="0"/>
              </a:rPr>
              <a:t>Almalki</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Alaa</a:t>
            </a:r>
            <a:r>
              <a:rPr lang="en-US" sz="1600" dirty="0">
                <a:latin typeface="Times New Roman" panose="02020603050405020304" pitchFamily="18" charset="0"/>
                <a:cs typeface="Times New Roman" panose="02020603050405020304" pitchFamily="18" charset="0"/>
              </a:rPr>
              <a:t> O. </a:t>
            </a:r>
            <a:r>
              <a:rPr lang="en-US" sz="1600" dirty="0" err="1">
                <a:latin typeface="Times New Roman" panose="02020603050405020304" pitchFamily="18" charset="0"/>
                <a:cs typeface="Times New Roman" panose="02020603050405020304" pitchFamily="18" charset="0"/>
              </a:rPr>
              <a:t>Khadidos</a:t>
            </a:r>
            <a:r>
              <a:rPr lang="en-US" sz="1600" dirty="0">
                <a:latin typeface="Times New Roman" panose="02020603050405020304" pitchFamily="18" charset="0"/>
                <a:cs typeface="Times New Roman" panose="02020603050405020304" pitchFamily="18" charset="0"/>
              </a:rPr>
              <a:t>, Nawaf </a:t>
            </a:r>
            <a:r>
              <a:rPr lang="en-US" sz="1600" dirty="0" err="1">
                <a:latin typeface="Times New Roman" panose="02020603050405020304" pitchFamily="18" charset="0"/>
                <a:cs typeface="Times New Roman" panose="02020603050405020304" pitchFamily="18" charset="0"/>
              </a:rPr>
              <a:t>Alhebaishi</a:t>
            </a:r>
            <a:r>
              <a:rPr lang="en-US" sz="1600" dirty="0">
                <a:latin typeface="Times New Roman" panose="02020603050405020304" pitchFamily="18" charset="0"/>
                <a:cs typeface="Times New Roman" panose="02020603050405020304" pitchFamily="18" charset="0"/>
              </a:rPr>
              <a:t>, &amp; Ebrahim Mohammed </a:t>
            </a:r>
            <a:r>
              <a:rPr lang="en-US" sz="1600" dirty="0" err="1">
                <a:latin typeface="Times New Roman" panose="02020603050405020304" pitchFamily="18" charset="0"/>
                <a:cs typeface="Times New Roman" panose="02020603050405020304" pitchFamily="18" charset="0"/>
              </a:rPr>
              <a:t>Senan</a:t>
            </a:r>
            <a:r>
              <a:rPr lang="en-US" sz="1600" dirty="0">
                <a:latin typeface="Times New Roman" panose="02020603050405020304" pitchFamily="18" charset="0"/>
                <a:cs typeface="Times New Roman" panose="02020603050405020304" pitchFamily="18" charset="0"/>
              </a:rPr>
              <a:t>. (2025). Early detection of Alzheimer’s disease progression stages using hybrid of CNN and Transformer Encoder models. </a:t>
            </a:r>
            <a:r>
              <a:rPr lang="en-US" sz="1600" i="1" dirty="0">
                <a:latin typeface="Times New Roman" panose="02020603050405020304" pitchFamily="18" charset="0"/>
                <a:cs typeface="Times New Roman" panose="02020603050405020304" pitchFamily="18" charset="0"/>
              </a:rPr>
              <a:t>Scientific Reports, 15</a:t>
            </a:r>
            <a:r>
              <a:rPr lang="en-US" sz="1600" dirty="0">
                <a:latin typeface="Times New Roman" panose="02020603050405020304" pitchFamily="18" charset="0"/>
                <a:cs typeface="Times New Roman" panose="02020603050405020304" pitchFamily="18" charset="0"/>
              </a:rPr>
              <a:t>, 16799. </a:t>
            </a:r>
            <a:r>
              <a:rPr lang="en-US" sz="1600" u="sng" dirty="0">
                <a:latin typeface="Times New Roman" panose="02020603050405020304" pitchFamily="18" charset="0"/>
                <a:cs typeface="Times New Roman" panose="02020603050405020304" pitchFamily="18" charset="0"/>
                <a:hlinkClick r:id="rId10"/>
              </a:rPr>
              <a:t>https://doi.org/10.1038/s41598‑025‑01072‑5</a:t>
            </a:r>
            <a:r>
              <a:rPr lang="en-US" sz="1600" dirty="0">
                <a:latin typeface="Times New Roman" panose="02020603050405020304" pitchFamily="18" charset="0"/>
                <a:cs typeface="Times New Roman" panose="02020603050405020304" pitchFamily="18" charset="0"/>
              </a:rPr>
              <a:t> (</a:t>
            </a:r>
            <a:r>
              <a:rPr lang="en-US" sz="1600" u="sng" dirty="0">
                <a:latin typeface="Times New Roman" panose="02020603050405020304" pitchFamily="18" charset="0"/>
                <a:cs typeface="Times New Roman" panose="02020603050405020304" pitchFamily="18" charset="0"/>
                <a:hlinkClick r:id="rId11" tooltip="Early detection of Alzheimer’s disease progression stages using hybrid of CNN and transformer encoder models - PMC"/>
              </a:rPr>
              <a:t>PMC</a:t>
            </a:r>
            <a:r>
              <a:rPr lang="en-US" sz="1600" dirty="0">
                <a:latin typeface="Times New Roman" panose="02020603050405020304" pitchFamily="18" charset="0"/>
                <a:cs typeface="Times New Roman" panose="02020603050405020304" pitchFamily="18" charset="0"/>
              </a:rPr>
              <a:t>)</a:t>
            </a: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68864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961888" y="0"/>
            <a:ext cx="9720072" cy="770709"/>
          </a:xfrm>
        </p:spPr>
        <p:txBody>
          <a:bodyPr>
            <a:normAutofit/>
          </a:bodyPr>
          <a:lstStyle/>
          <a:p>
            <a:pPr lvl="2" algn="ctr">
              <a:lnSpc>
                <a:spcPct val="170000"/>
              </a:lnSpc>
            </a:pPr>
            <a:r>
              <a:rPr lang="en-US" sz="3000" u="sng" dirty="0">
                <a:latin typeface="Times New Roman" panose="02020603050405020304" pitchFamily="18" charset="0"/>
                <a:cs typeface="Times New Roman" panose="02020603050405020304" pitchFamily="18" charset="0"/>
              </a:rPr>
              <a:t>REFERENCES</a:t>
            </a:r>
          </a:p>
        </p:txBody>
      </p:sp>
      <p:sp>
        <p:nvSpPr>
          <p:cNvPr id="5" name="Rectangle 4">
            <a:extLst>
              <a:ext uri="{FF2B5EF4-FFF2-40B4-BE49-F238E27FC236}">
                <a16:creationId xmlns:a16="http://schemas.microsoft.com/office/drawing/2014/main" id="{601FFB03-F4A2-454A-97F6-EA34E3065B01}"/>
              </a:ext>
            </a:extLst>
          </p:cNvPr>
          <p:cNvSpPr/>
          <p:nvPr/>
        </p:nvSpPr>
        <p:spPr>
          <a:xfrm>
            <a:off x="961888" y="1005929"/>
            <a:ext cx="10575688" cy="4849404"/>
          </a:xfrm>
          <a:prstGeom prst="rect">
            <a:avLst/>
          </a:prstGeom>
        </p:spPr>
        <p:txBody>
          <a:bodyPr wrap="square">
            <a:spAutoFit/>
          </a:bodyPr>
          <a:lstStyle/>
          <a:p>
            <a:pPr lvl="0" algn="just">
              <a:lnSpc>
                <a:spcPct val="150000"/>
              </a:lnSpc>
            </a:pPr>
            <a:r>
              <a:rPr lang="en-US" sz="1600" dirty="0">
                <a:latin typeface="Times New Roman" panose="02020603050405020304" pitchFamily="18" charset="0"/>
                <a:cs typeface="Times New Roman" panose="02020603050405020304" pitchFamily="18" charset="0"/>
              </a:rPr>
              <a:t>Muhammad Umair Ali, Kwang </a:t>
            </a:r>
            <a:r>
              <a:rPr lang="en-US" sz="1600" dirty="0" err="1">
                <a:latin typeface="Times New Roman" panose="02020603050405020304" pitchFamily="18" charset="0"/>
                <a:cs typeface="Times New Roman" panose="02020603050405020304" pitchFamily="18" charset="0"/>
              </a:rPr>
              <a:t>Su</a:t>
            </a:r>
            <a:r>
              <a:rPr lang="en-US" sz="1600" dirty="0">
                <a:latin typeface="Times New Roman" panose="02020603050405020304" pitchFamily="18" charset="0"/>
                <a:cs typeface="Times New Roman" panose="02020603050405020304" pitchFamily="18" charset="0"/>
              </a:rPr>
              <a:t> Kim, </a:t>
            </a:r>
            <a:r>
              <a:rPr lang="en-US" sz="1600" dirty="0" err="1">
                <a:latin typeface="Times New Roman" panose="02020603050405020304" pitchFamily="18" charset="0"/>
                <a:cs typeface="Times New Roman" panose="02020603050405020304" pitchFamily="18" charset="0"/>
              </a:rPr>
              <a:t>Majdi</a:t>
            </a:r>
            <a:r>
              <a:rPr lang="en-US" sz="1600" dirty="0">
                <a:latin typeface="Times New Roman" panose="02020603050405020304" pitchFamily="18" charset="0"/>
                <a:cs typeface="Times New Roman" panose="02020603050405020304" pitchFamily="18" charset="0"/>
              </a:rPr>
              <a:t> Khalid, Majed </a:t>
            </a:r>
            <a:r>
              <a:rPr lang="en-US" sz="1600" dirty="0" err="1">
                <a:latin typeface="Times New Roman" panose="02020603050405020304" pitchFamily="18" charset="0"/>
                <a:cs typeface="Times New Roman" panose="02020603050405020304" pitchFamily="18" charset="0"/>
              </a:rPr>
              <a:t>Farrash</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Amad</a:t>
            </a:r>
            <a:r>
              <a:rPr lang="en-US" sz="1600" dirty="0">
                <a:latin typeface="Times New Roman" panose="02020603050405020304" pitchFamily="18" charset="0"/>
                <a:cs typeface="Times New Roman" panose="02020603050405020304" pitchFamily="18" charset="0"/>
              </a:rPr>
              <a:t> Zafar, &amp; Seung Won Lee. (2024). Enhancing Alzheimer’s disease diagnosis and staging: a multistage CNN framework using MRI. </a:t>
            </a:r>
            <a:r>
              <a:rPr lang="en-US" sz="1600" i="1" dirty="0">
                <a:latin typeface="Times New Roman" panose="02020603050405020304" pitchFamily="18" charset="0"/>
                <a:cs typeface="Times New Roman" panose="02020603050405020304" pitchFamily="18" charset="0"/>
              </a:rPr>
              <a:t>Frontiers in Psychiatry, 15</a:t>
            </a:r>
            <a:r>
              <a:rPr lang="en-US" sz="1600" dirty="0">
                <a:latin typeface="Times New Roman" panose="02020603050405020304" pitchFamily="18" charset="0"/>
                <a:cs typeface="Times New Roman" panose="02020603050405020304" pitchFamily="18" charset="0"/>
              </a:rPr>
              <a:t>, 1395563. </a:t>
            </a:r>
            <a:r>
              <a:rPr lang="en-US" sz="1600" u="sng" dirty="0">
                <a:latin typeface="Times New Roman" panose="02020603050405020304" pitchFamily="18" charset="0"/>
                <a:cs typeface="Times New Roman" panose="02020603050405020304" pitchFamily="18" charset="0"/>
                <a:hlinkClick r:id="rId2"/>
              </a:rPr>
              <a:t>https://doi.org/10.3389/fpsyt.2024.1395563</a:t>
            </a:r>
            <a:r>
              <a:rPr lang="en-US" sz="1600" dirty="0">
                <a:latin typeface="Times New Roman" panose="02020603050405020304" pitchFamily="18" charset="0"/>
                <a:cs typeface="Times New Roman" panose="02020603050405020304" pitchFamily="18" charset="0"/>
              </a:rPr>
              <a:t> (</a:t>
            </a:r>
            <a:r>
              <a:rPr lang="en-US" sz="1600" u="sng" dirty="0">
                <a:latin typeface="Times New Roman" panose="02020603050405020304" pitchFamily="18" charset="0"/>
                <a:cs typeface="Times New Roman" panose="02020603050405020304" pitchFamily="18" charset="0"/>
                <a:hlinkClick r:id="rId3" tooltip="Enhancing Alzheimer’s disease diagnosis and staging: a multistage CNN framework using MRI - PMC"/>
              </a:rPr>
              <a:t>PMC</a:t>
            </a:r>
            <a:r>
              <a:rPr lang="en-US" sz="1600" dirty="0">
                <a:latin typeface="Times New Roman" panose="02020603050405020304" pitchFamily="18" charset="0"/>
                <a:cs typeface="Times New Roman" panose="02020603050405020304" pitchFamily="18" charset="0"/>
              </a:rPr>
              <a:t>)</a:t>
            </a:r>
            <a:endParaRPr lang="en-IN" sz="1600" dirty="0">
              <a:latin typeface="Times New Roman" panose="02020603050405020304" pitchFamily="18" charset="0"/>
              <a:cs typeface="Times New Roman" panose="02020603050405020304" pitchFamily="18" charset="0"/>
            </a:endParaRPr>
          </a:p>
          <a:p>
            <a:pPr lvl="0" algn="just">
              <a:lnSpc>
                <a:spcPct val="150000"/>
              </a:lnSpc>
            </a:pPr>
            <a:r>
              <a:rPr lang="en-US" sz="1600" dirty="0">
                <a:latin typeface="Times New Roman" panose="02020603050405020304" pitchFamily="18" charset="0"/>
                <a:cs typeface="Times New Roman" panose="02020603050405020304" pitchFamily="18" charset="0"/>
              </a:rPr>
              <a:t>Pranay Agarwal, </a:t>
            </a:r>
            <a:r>
              <a:rPr lang="en-US" sz="1600" dirty="0" err="1">
                <a:latin typeface="Times New Roman" panose="02020603050405020304" pitchFamily="18" charset="0"/>
                <a:cs typeface="Times New Roman" panose="02020603050405020304" pitchFamily="18" charset="0"/>
              </a:rPr>
              <a:t>Vikhyat</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Jagawat</a:t>
            </a:r>
            <a:r>
              <a:rPr lang="en-US" sz="1600" dirty="0">
                <a:latin typeface="Times New Roman" panose="02020603050405020304" pitchFamily="18" charset="0"/>
                <a:cs typeface="Times New Roman" panose="02020603050405020304" pitchFamily="18" charset="0"/>
              </a:rPr>
              <a:t>, B. </a:t>
            </a:r>
            <a:r>
              <a:rPr lang="en-US" sz="1600" dirty="0" err="1">
                <a:latin typeface="Times New Roman" panose="02020603050405020304" pitchFamily="18" charset="0"/>
                <a:cs typeface="Times New Roman" panose="02020603050405020304" pitchFamily="18" charset="0"/>
              </a:rPr>
              <a:t>Jathiswar</a:t>
            </a:r>
            <a:r>
              <a:rPr lang="en-US" sz="1600" dirty="0">
                <a:latin typeface="Times New Roman" panose="02020603050405020304" pitchFamily="18" charset="0"/>
                <a:cs typeface="Times New Roman" panose="02020603050405020304" pitchFamily="18" charset="0"/>
              </a:rPr>
              <a:t>, &amp; M. </a:t>
            </a:r>
            <a:r>
              <a:rPr lang="en-US" sz="1600" dirty="0" err="1">
                <a:latin typeface="Times New Roman" panose="02020603050405020304" pitchFamily="18" charset="0"/>
                <a:cs typeface="Times New Roman" panose="02020603050405020304" pitchFamily="18" charset="0"/>
              </a:rPr>
              <a:t>Poonkodi</a:t>
            </a:r>
            <a:r>
              <a:rPr lang="en-US" sz="1600" dirty="0">
                <a:latin typeface="Times New Roman" panose="02020603050405020304" pitchFamily="18" charset="0"/>
                <a:cs typeface="Times New Roman" panose="02020603050405020304" pitchFamily="18" charset="0"/>
              </a:rPr>
              <a:t>. (2023). A deep learning framework for early diagnosis of Alzheimer’s disease on MRI images. </a:t>
            </a:r>
            <a:r>
              <a:rPr lang="en-US" sz="1600" i="1" dirty="0">
                <a:latin typeface="Times New Roman" panose="02020603050405020304" pitchFamily="18" charset="0"/>
                <a:cs typeface="Times New Roman" panose="02020603050405020304" pitchFamily="18" charset="0"/>
              </a:rPr>
              <a:t>Multimedia Tools and Applications, 83</a:t>
            </a:r>
            <a:r>
              <a:rPr lang="en-US" sz="1600" dirty="0">
                <a:latin typeface="Times New Roman" panose="02020603050405020304" pitchFamily="18" charset="0"/>
                <a:cs typeface="Times New Roman" panose="02020603050405020304" pitchFamily="18" charset="0"/>
              </a:rPr>
              <a:t>, 3767–3799. </a:t>
            </a:r>
            <a:r>
              <a:rPr lang="en-US" sz="1600" u="sng" dirty="0">
                <a:latin typeface="Times New Roman" panose="02020603050405020304" pitchFamily="18" charset="0"/>
                <a:cs typeface="Times New Roman" panose="02020603050405020304" pitchFamily="18" charset="0"/>
                <a:hlinkClick r:id="rId4"/>
              </a:rPr>
              <a:t>https://doi.org/10.1007/s11042-023-15738-7</a:t>
            </a:r>
            <a:r>
              <a:rPr lang="en-US" sz="1600" dirty="0">
                <a:latin typeface="Times New Roman" panose="02020603050405020304" pitchFamily="18" charset="0"/>
                <a:cs typeface="Times New Roman" panose="02020603050405020304" pitchFamily="18" charset="0"/>
              </a:rPr>
              <a:t> (</a:t>
            </a:r>
            <a:r>
              <a:rPr lang="en-US" sz="1600" u="sng" dirty="0">
                <a:latin typeface="Times New Roman" panose="02020603050405020304" pitchFamily="18" charset="0"/>
                <a:cs typeface="Times New Roman" panose="02020603050405020304" pitchFamily="18" charset="0"/>
                <a:hlinkClick r:id="rId5" tooltip="A deep learning framework for early diagnosis of Alzheimer’s disease on MRI images | Multimedia Tools and Applications"/>
              </a:rPr>
              <a:t>SpringerLink</a:t>
            </a:r>
            <a:r>
              <a:rPr lang="en-US" sz="1600" dirty="0">
                <a:latin typeface="Times New Roman" panose="02020603050405020304" pitchFamily="18" charset="0"/>
                <a:cs typeface="Times New Roman" panose="02020603050405020304" pitchFamily="18" charset="0"/>
              </a:rPr>
              <a:t>)</a:t>
            </a:r>
            <a:endParaRPr lang="en-IN" sz="1600" dirty="0">
              <a:latin typeface="Times New Roman" panose="02020603050405020304" pitchFamily="18" charset="0"/>
              <a:cs typeface="Times New Roman" panose="02020603050405020304" pitchFamily="18" charset="0"/>
            </a:endParaRPr>
          </a:p>
          <a:p>
            <a:pPr lvl="0" algn="just">
              <a:lnSpc>
                <a:spcPct val="150000"/>
              </a:lnSpc>
            </a:pPr>
            <a:r>
              <a:rPr lang="en-US" sz="1600" dirty="0">
                <a:latin typeface="Times New Roman" panose="02020603050405020304" pitchFamily="18" charset="0"/>
                <a:cs typeface="Times New Roman" panose="02020603050405020304" pitchFamily="18" charset="0"/>
              </a:rPr>
              <a:t>Murat </a:t>
            </a:r>
            <a:r>
              <a:rPr lang="en-US" sz="1600" dirty="0" err="1">
                <a:latin typeface="Times New Roman" panose="02020603050405020304" pitchFamily="18" charset="0"/>
                <a:cs typeface="Times New Roman" panose="02020603050405020304" pitchFamily="18" charset="0"/>
              </a:rPr>
              <a:t>Avşar</a:t>
            </a:r>
            <a:r>
              <a:rPr lang="en-US" sz="1600" dirty="0">
                <a:latin typeface="Times New Roman" panose="02020603050405020304" pitchFamily="18" charset="0"/>
                <a:cs typeface="Times New Roman" panose="02020603050405020304" pitchFamily="18" charset="0"/>
              </a:rPr>
              <a:t> &amp; Kemal </a:t>
            </a:r>
            <a:r>
              <a:rPr lang="en-US" sz="1600" dirty="0" err="1">
                <a:latin typeface="Times New Roman" panose="02020603050405020304" pitchFamily="18" charset="0"/>
                <a:cs typeface="Times New Roman" panose="02020603050405020304" pitchFamily="18" charset="0"/>
              </a:rPr>
              <a:t>Polat</a:t>
            </a:r>
            <a:r>
              <a:rPr lang="en-US" sz="1600" dirty="0">
                <a:latin typeface="Times New Roman" panose="02020603050405020304" pitchFamily="18" charset="0"/>
                <a:cs typeface="Times New Roman" panose="02020603050405020304" pitchFamily="18" charset="0"/>
              </a:rPr>
              <a:t>. (2023). Classifying Alzheimer’s disease based on a convolutional neural network with MRI images. </a:t>
            </a:r>
            <a:r>
              <a:rPr lang="en-US" sz="1600" i="1" dirty="0">
                <a:latin typeface="Times New Roman" panose="02020603050405020304" pitchFamily="18" charset="0"/>
                <a:cs typeface="Times New Roman" panose="02020603050405020304" pitchFamily="18" charset="0"/>
              </a:rPr>
              <a:t>Journal of Artificial Intelligence and Systems, 5</a:t>
            </a:r>
            <a:r>
              <a:rPr lang="en-US" sz="1600" dirty="0">
                <a:latin typeface="Times New Roman" panose="02020603050405020304" pitchFamily="18" charset="0"/>
                <a:cs typeface="Times New Roman" panose="02020603050405020304" pitchFamily="18" charset="0"/>
              </a:rPr>
              <a:t>, 46–57. </a:t>
            </a:r>
            <a:r>
              <a:rPr lang="en-US" sz="1600" u="sng" dirty="0">
                <a:latin typeface="Times New Roman" panose="02020603050405020304" pitchFamily="18" charset="0"/>
                <a:cs typeface="Times New Roman" panose="02020603050405020304" pitchFamily="18" charset="0"/>
                <a:hlinkClick r:id="rId6"/>
              </a:rPr>
              <a:t>https://doi.org/10.33969/AIS.2023050104</a:t>
            </a:r>
            <a:r>
              <a:rPr lang="en-US" sz="1600" dirty="0">
                <a:latin typeface="Times New Roman" panose="02020603050405020304" pitchFamily="18" charset="0"/>
                <a:cs typeface="Times New Roman" panose="02020603050405020304" pitchFamily="18" charset="0"/>
              </a:rPr>
              <a:t> (</a:t>
            </a:r>
            <a:r>
              <a:rPr lang="en-US" sz="1600" u="sng" dirty="0">
                <a:latin typeface="Times New Roman" panose="02020603050405020304" pitchFamily="18" charset="0"/>
                <a:cs typeface="Times New Roman" panose="02020603050405020304" pitchFamily="18" charset="0"/>
                <a:hlinkClick r:id="rId7" tooltip="Journal of Artificial Intelligence and Systems, 2023, 5, 46-57"/>
              </a:rPr>
              <a:t>iecscience.org</a:t>
            </a:r>
            <a:r>
              <a:rPr lang="en-US" sz="1600" dirty="0">
                <a:latin typeface="Times New Roman" panose="02020603050405020304" pitchFamily="18" charset="0"/>
                <a:cs typeface="Times New Roman" panose="02020603050405020304" pitchFamily="18" charset="0"/>
              </a:rPr>
              <a:t>)</a:t>
            </a:r>
            <a:endParaRPr lang="en-IN" sz="1600" dirty="0">
              <a:latin typeface="Times New Roman" panose="02020603050405020304" pitchFamily="18" charset="0"/>
              <a:cs typeface="Times New Roman" panose="02020603050405020304" pitchFamily="18" charset="0"/>
            </a:endParaRPr>
          </a:p>
          <a:p>
            <a:pPr lvl="0" algn="just">
              <a:lnSpc>
                <a:spcPct val="150000"/>
              </a:lnSpc>
            </a:pPr>
            <a:r>
              <a:rPr lang="en-US" sz="1600" dirty="0">
                <a:latin typeface="Times New Roman" panose="02020603050405020304" pitchFamily="18" charset="0"/>
                <a:cs typeface="Times New Roman" panose="02020603050405020304" pitchFamily="18" charset="0"/>
              </a:rPr>
              <a:t>Juan Zhou, </a:t>
            </a:r>
            <a:r>
              <a:rPr lang="en-US" sz="1600" dirty="0" err="1">
                <a:latin typeface="Times New Roman" panose="02020603050405020304" pitchFamily="18" charset="0"/>
                <a:cs typeface="Times New Roman" panose="02020603050405020304" pitchFamily="18" charset="0"/>
              </a:rPr>
              <a:t>Yiming</a:t>
            </a:r>
            <a:r>
              <a:rPr lang="en-US" sz="1600" dirty="0">
                <a:latin typeface="Times New Roman" panose="02020603050405020304" pitchFamily="18" charset="0"/>
                <a:cs typeface="Times New Roman" panose="02020603050405020304" pitchFamily="18" charset="0"/>
              </a:rPr>
              <a:t> Wei, </a:t>
            </a:r>
            <a:r>
              <a:rPr lang="en-US" sz="1600" dirty="0" err="1">
                <a:latin typeface="Times New Roman" panose="02020603050405020304" pitchFamily="18" charset="0"/>
                <a:cs typeface="Times New Roman" panose="02020603050405020304" pitchFamily="18" charset="0"/>
              </a:rPr>
              <a:t>Xiong</a:t>
            </a:r>
            <a:r>
              <a:rPr lang="en-US" sz="1600" dirty="0">
                <a:latin typeface="Times New Roman" panose="02020603050405020304" pitchFamily="18" charset="0"/>
                <a:cs typeface="Times New Roman" panose="02020603050405020304" pitchFamily="18" charset="0"/>
              </a:rPr>
              <a:t> Li, </a:t>
            </a:r>
            <a:r>
              <a:rPr lang="en-US" sz="1600" dirty="0" err="1">
                <a:latin typeface="Times New Roman" panose="02020603050405020304" pitchFamily="18" charset="0"/>
                <a:cs typeface="Times New Roman" panose="02020603050405020304" pitchFamily="18" charset="0"/>
              </a:rPr>
              <a:t>Weiqiang</a:t>
            </a:r>
            <a:r>
              <a:rPr lang="en-US" sz="1600" dirty="0">
                <a:latin typeface="Times New Roman" panose="02020603050405020304" pitchFamily="18" charset="0"/>
                <a:cs typeface="Times New Roman" panose="02020603050405020304" pitchFamily="18" charset="0"/>
              </a:rPr>
              <a:t> Zhou, </a:t>
            </a:r>
            <a:r>
              <a:rPr lang="en-US" sz="1600" dirty="0" err="1">
                <a:latin typeface="Times New Roman" panose="02020603050405020304" pitchFamily="18" charset="0"/>
                <a:cs typeface="Times New Roman" panose="02020603050405020304" pitchFamily="18" charset="0"/>
              </a:rPr>
              <a:t>Ruiyang</a:t>
            </a:r>
            <a:r>
              <a:rPr lang="en-US" sz="1600" dirty="0">
                <a:latin typeface="Times New Roman" panose="02020603050405020304" pitchFamily="18" charset="0"/>
                <a:cs typeface="Times New Roman" panose="02020603050405020304" pitchFamily="18" charset="0"/>
              </a:rPr>
              <a:t> Tao, Yi Hua, &amp; Hongwei Liu. (2025). A deep learning model for early diagnosis of Alzheimer’s disease combined with 3D CNN and video </a:t>
            </a:r>
            <a:r>
              <a:rPr lang="en-US" sz="1600" dirty="0" err="1">
                <a:latin typeface="Times New Roman" panose="02020603050405020304" pitchFamily="18" charset="0"/>
                <a:cs typeface="Times New Roman" panose="02020603050405020304" pitchFamily="18" charset="0"/>
              </a:rPr>
              <a:t>Swin</a:t>
            </a:r>
            <a:r>
              <a:rPr lang="en-US" sz="1600" dirty="0">
                <a:latin typeface="Times New Roman" panose="02020603050405020304" pitchFamily="18" charset="0"/>
                <a:cs typeface="Times New Roman" panose="02020603050405020304" pitchFamily="18" charset="0"/>
              </a:rPr>
              <a:t> Transformer. </a:t>
            </a:r>
            <a:r>
              <a:rPr lang="en-US" sz="1600" i="1" dirty="0">
                <a:latin typeface="Times New Roman" panose="02020603050405020304" pitchFamily="18" charset="0"/>
                <a:cs typeface="Times New Roman" panose="02020603050405020304" pitchFamily="18" charset="0"/>
              </a:rPr>
              <a:t>Scientific Reports, 15</a:t>
            </a:r>
            <a:r>
              <a:rPr lang="en-US" sz="1600" dirty="0">
                <a:latin typeface="Times New Roman" panose="02020603050405020304" pitchFamily="18" charset="0"/>
                <a:cs typeface="Times New Roman" panose="02020603050405020304" pitchFamily="18" charset="0"/>
              </a:rPr>
              <a:t>, 23311. </a:t>
            </a:r>
            <a:r>
              <a:rPr lang="en-US" sz="1600" u="sng" dirty="0">
                <a:latin typeface="Times New Roman" panose="02020603050405020304" pitchFamily="18" charset="0"/>
                <a:cs typeface="Times New Roman" panose="02020603050405020304" pitchFamily="18" charset="0"/>
                <a:hlinkClick r:id="rId8"/>
              </a:rPr>
              <a:t>https://doi.org/10.1038/s41598‑025‑</a:t>
            </a:r>
            <a:r>
              <a:rPr lang="en-US" sz="1600" dirty="0">
                <a:latin typeface="Times New Roman" panose="02020603050405020304" pitchFamily="18" charset="0"/>
                <a:cs typeface="Times New Roman" panose="02020603050405020304" pitchFamily="18" charset="0"/>
              </a:rPr>
              <a:t>? (Jul 02 2025) (</a:t>
            </a:r>
            <a:r>
              <a:rPr lang="en-US" sz="1600" u="sng" dirty="0">
                <a:latin typeface="Times New Roman" panose="02020603050405020304" pitchFamily="18" charset="0"/>
                <a:cs typeface="Times New Roman" panose="02020603050405020304" pitchFamily="18" charset="0"/>
                <a:hlinkClick r:id="rId9" tooltip="A deep learning model for early diagnosis of alzheimer's disease combined with 3D CNN and video Swin transformer."/>
              </a:rPr>
              <a:t>Life Science Network</a:t>
            </a:r>
            <a:r>
              <a:rPr lang="en-US" sz="1600" dirty="0">
                <a:latin typeface="Times New Roman" panose="02020603050405020304" pitchFamily="18" charset="0"/>
                <a:cs typeface="Times New Roman" panose="02020603050405020304" pitchFamily="18" charset="0"/>
              </a:rPr>
              <a:t>)</a:t>
            </a:r>
            <a:endParaRPr lang="en-IN" sz="1600" dirty="0">
              <a:latin typeface="Times New Roman" panose="02020603050405020304" pitchFamily="18" charset="0"/>
              <a:cs typeface="Times New Roman" panose="02020603050405020304" pitchFamily="18" charset="0"/>
            </a:endParaRPr>
          </a:p>
          <a:p>
            <a:pPr lvl="0" algn="just">
              <a:lnSpc>
                <a:spcPct val="150000"/>
              </a:lnSpc>
            </a:pPr>
            <a:r>
              <a:rPr lang="en-US" sz="1600" dirty="0">
                <a:latin typeface="Times New Roman" panose="02020603050405020304" pitchFamily="18" charset="0"/>
                <a:cs typeface="Times New Roman" panose="02020603050405020304" pitchFamily="18" charset="0"/>
              </a:rPr>
              <a:t>Saddam Hussain Khan. (2024). A Novel Feature Map Enhancement Technique Integrating Residual CNN and Transformer for Alzheimer Diseases Diagnosis. </a:t>
            </a:r>
            <a:r>
              <a:rPr lang="en-US" sz="1600" i="1" dirty="0" err="1">
                <a:latin typeface="Times New Roman" panose="02020603050405020304" pitchFamily="18" charset="0"/>
                <a:cs typeface="Times New Roman" panose="02020603050405020304" pitchFamily="18" charset="0"/>
              </a:rPr>
              <a:t>arXiv</a:t>
            </a:r>
            <a:r>
              <a:rPr lang="en-US" sz="1600" i="1" dirty="0">
                <a:latin typeface="Times New Roman" panose="02020603050405020304" pitchFamily="18" charset="0"/>
                <a:cs typeface="Times New Roman" panose="02020603050405020304" pitchFamily="18" charset="0"/>
              </a:rPr>
              <a:t> preprint arXiv:2405.12986.</a:t>
            </a:r>
            <a:r>
              <a:rPr lang="en-US" sz="1600" dirty="0">
                <a:latin typeface="Times New Roman" panose="02020603050405020304" pitchFamily="18" charset="0"/>
                <a:cs typeface="Times New Roman" panose="02020603050405020304" pitchFamily="18" charset="0"/>
              </a:rPr>
              <a:t> </a:t>
            </a:r>
            <a:r>
              <a:rPr lang="en-US" sz="1600" u="sng" dirty="0">
                <a:latin typeface="Times New Roman" panose="02020603050405020304" pitchFamily="18" charset="0"/>
                <a:cs typeface="Times New Roman" panose="02020603050405020304" pitchFamily="18" charset="0"/>
                <a:hlinkClick r:id="rId10"/>
              </a:rPr>
              <a:t>https://arxiv.org/abs/2405.12986</a:t>
            </a:r>
            <a:r>
              <a:rPr lang="en-US" sz="1600" dirty="0">
                <a:latin typeface="Times New Roman" panose="02020603050405020304" pitchFamily="18" charset="0"/>
                <a:cs typeface="Times New Roman" panose="02020603050405020304" pitchFamily="18" charset="0"/>
              </a:rPr>
              <a:t> (</a:t>
            </a:r>
            <a:r>
              <a:rPr lang="en-US" sz="1600" u="sng" dirty="0" err="1">
                <a:latin typeface="Times New Roman" panose="02020603050405020304" pitchFamily="18" charset="0"/>
                <a:cs typeface="Times New Roman" panose="02020603050405020304" pitchFamily="18" charset="0"/>
                <a:hlinkClick r:id="rId11" tooltip="A Novel Feature Map Enhancement Technique Integrating Residual CNN and Transformer for Alzheimer Diseases Diagnosis"/>
              </a:rPr>
              <a:t>arXiv</a:t>
            </a:r>
            <a:r>
              <a:rPr lang="en-US" sz="1600" dirty="0">
                <a:latin typeface="Times New Roman" panose="02020603050405020304" pitchFamily="18" charset="0"/>
                <a:cs typeface="Times New Roman" panose="02020603050405020304" pitchFamily="18" charset="0"/>
              </a:rPr>
              <a:t>)</a:t>
            </a: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6495204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77210f24a1be23c92c90fd886aa0aa">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60e05723c5c1908df1a1a4ebf11d344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61EAB5F-88FC-4FAE-AE3C-037A3C365EB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788A2F88-55C5-4ED1-9541-807C65424763}">
  <ds:schemaRefs>
    <ds:schemaRef ds:uri="71af3243-3dd4-4a8d-8c0d-dd76da1f02a5"/>
    <ds:schemaRef ds:uri="16c05727-aa75-4e4a-9b5f-8a80a1165891"/>
    <ds:schemaRef ds:uri="http://schemas.microsoft.com/office/infopath/2007/PartnerControls"/>
    <ds:schemaRef ds:uri="http://schemas.openxmlformats.org/package/2006/metadata/core-properties"/>
    <ds:schemaRef ds:uri="http://schemas.microsoft.com/office/2006/metadata/properties"/>
    <ds:schemaRef ds:uri="http://schemas.microsoft.com/office/2006/documentManagement/types"/>
    <ds:schemaRef ds:uri="http://purl.org/dc/elements/1.1/"/>
    <ds:schemaRef ds:uri="http://www.w3.org/XML/1998/namespace"/>
    <ds:schemaRef ds:uri="http://purl.org/dc/dcmitype/"/>
    <ds:schemaRef ds:uri="http://purl.org/dc/terms/"/>
  </ds:schemaRefs>
</ds:datastoreItem>
</file>

<file path=customXml/itemProps3.xml><?xml version="1.0" encoding="utf-8"?>
<ds:datastoreItem xmlns:ds="http://schemas.openxmlformats.org/officeDocument/2006/customXml" ds:itemID="{4F44C90D-2A62-4985-9618-3460247437B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Integral design</Template>
  <TotalTime>0</TotalTime>
  <Words>2616</Words>
  <Application>Microsoft Office PowerPoint</Application>
  <PresentationFormat>Widescreen</PresentationFormat>
  <Paragraphs>146</Paragraphs>
  <Slides>22</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22</vt:i4>
      </vt:variant>
    </vt:vector>
  </HeadingPairs>
  <TitlesOfParts>
    <vt:vector size="33" baseType="lpstr">
      <vt:lpstr>SimSun</vt:lpstr>
      <vt:lpstr>Arial</vt:lpstr>
      <vt:lpstr>Bahnschrift</vt:lpstr>
      <vt:lpstr>Calibri</vt:lpstr>
      <vt:lpstr>Calibri Light</vt:lpstr>
      <vt:lpstr>Times New Roman</vt:lpstr>
      <vt:lpstr>Tw Cen MT</vt:lpstr>
      <vt:lpstr>Tw Cen MT Condensed</vt:lpstr>
      <vt:lpstr>Wingdings</vt:lpstr>
      <vt:lpstr>Wingdings 3</vt:lpstr>
      <vt:lpstr>Integral</vt:lpstr>
      <vt:lpstr>PowerPoint Presentation</vt:lpstr>
      <vt:lpstr>TABLE OF CONTENTS</vt:lpstr>
      <vt:lpstr>PROJECT DESCRIPTION </vt:lpstr>
      <vt:lpstr>PROBLEM STATEMENT </vt:lpstr>
      <vt:lpstr>OBJECTIVE OF PROJECT </vt:lpstr>
      <vt:lpstr>SCOPE </vt:lpstr>
      <vt:lpstr>SIGNIFICANCE OF PROJECT </vt:lpstr>
      <vt:lpstr>EXISTING SYSTEM </vt:lpstr>
      <vt:lpstr>Disadvantages of Existing System </vt:lpstr>
      <vt:lpstr>PROPOSED SYSTEM </vt:lpstr>
      <vt:lpstr>Advantages of Proposed System</vt:lpstr>
      <vt:lpstr>PROJECT FLOW </vt:lpstr>
      <vt:lpstr>Resource Requirements </vt:lpstr>
      <vt:lpstr>RESEARCH GAP ANALYSIS </vt:lpstr>
      <vt:lpstr>RESEARCH GAP ANALYSIS </vt:lpstr>
      <vt:lpstr>LITERATURE SURVEY  </vt:lpstr>
      <vt:lpstr>IMPLEMENTATION  </vt:lpstr>
      <vt:lpstr>IMPLEMENTATION  </vt:lpstr>
      <vt:lpstr>PowerPoint Presentation</vt:lpstr>
      <vt:lpstr>PowerPoint Presentation</vt:lpstr>
      <vt:lpstr>REFERENCES</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2024-07-31T06:09:48Z</dcterms:created>
  <dcterms:modified xsi:type="dcterms:W3CDTF">2025-11-19T13:34:14Z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